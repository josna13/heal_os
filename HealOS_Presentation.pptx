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34" y="5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634CE-906D-485A-9823-8341498670C0}" type="datetimeFigureOut">
              <a:rPr lang="en-IN" smtClean="0"/>
              <a:t>24-10-2026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F4C262-9914-41FF-AB0F-961778AD1792}" type="slidenum">
              <a:rPr lang="en-IN" smtClean="0"/>
              <a:t>‹#›</a:t>
            </a:fld>
            <a:endParaRPr lang="en-IN"/>
          </a:p>
        </p:txBody>
      </p:sp>
    </p:spTree>
    <p:extLst>
      <p:ext uri="{BB962C8B-B14F-4D97-AF65-F5344CB8AC3E}">
        <p14:creationId xmlns:p14="http://schemas.microsoft.com/office/powerpoint/2010/main" val="2924226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Respected faculty panel and evaluators, good morning/afternoon. Today, I am proud to present HealOS: Operating Systems Execution and Simulation. Operating Systems form the fundamental layer between computer hardware and user applications. However, traditional computer science education often treats OS concepts—such as CPU scheduling, process crash recovery, and deadlock resolution—as abstract equations hidden deep inside the kernel. HealOS bridges this critical gap. It is a fully verified, interactive systems framework that couples real-time host hardware telemetry with deterministic visual simulators and autonomic self-healing capabilities. Today, I will walk you through our problem motivation, architecture, implementation across three dedicated laboratories, verified empirical results, and future directions.</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1</a:t>
            </a:fld>
            <a:endParaRPr lang="en-IN"/>
          </a:p>
        </p:txBody>
      </p:sp>
    </p:spTree>
    <p:extLst>
      <p:ext uri="{BB962C8B-B14F-4D97-AF65-F5344CB8AC3E}">
        <p14:creationId xmlns:p14="http://schemas.microsoft.com/office/powerpoint/2010/main" val="1157736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2 introduces the fundamental motivation behind HealOS. In standard undergraduate and graduate OS curricula, students study Silberschatz or Tanenbaum textbooks, calculating Gantt charts and Banker's Algorithm matrices on paper. However, they rarely observe how a real operating system manages a process table, handles abrupt SIGTERM/SIGSEGV signals, or resolves resource deadlocks dynamically. HealOS was built as an integrated dual-mode system: on one side, it monitors genuine live host metrics and manages a supervised application with automated crash recovery; on the other side, it provides interactive, mathematically exact execution studios for CPU scheduling and deadlock resolution. This dual approach connects abstract algorithmic theory to practical systems programming.</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2</a:t>
            </a:fld>
            <a:endParaRPr lang="en-IN"/>
          </a:p>
        </p:txBody>
      </p:sp>
    </p:spTree>
    <p:extLst>
      <p:ext uri="{BB962C8B-B14F-4D97-AF65-F5344CB8AC3E}">
        <p14:creationId xmlns:p14="http://schemas.microsoft.com/office/powerpoint/2010/main" val="50593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Slide 3, we articulate the exact engineering and pedagogical problem HealOS addresses. Operating systems are notoriously difficult to teach and inspect because their most critical operations happen invisibly inside kernel space. When a process is descheduled or blocks on a mutex, the student sees nothing. When a process crashes, it simply disappears, leaving an obscure entry in dmesg. Furthermore, deadlock is almost always taught with static numerical matrices on a whiteboard, which fails to convey the dynamic race conditions that create circular waits. The core problem we address is the lack of an integrated, highly visual, and interactive platform that demonstrates both live OS telemetry with autonomic recovery and deterministic simulation studios for scheduling and deadlock resolution.</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3</a:t>
            </a:fld>
            <a:endParaRPr lang="en-IN"/>
          </a:p>
        </p:txBody>
      </p:sp>
    </p:spTree>
    <p:extLst>
      <p:ext uri="{BB962C8B-B14F-4D97-AF65-F5344CB8AC3E}">
        <p14:creationId xmlns:p14="http://schemas.microsoft.com/office/powerpoint/2010/main" val="3525574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4 establishes our measurable engineering objectives. Rather than vague academic goals, we formulated four specific, quantifiable deliverables: First, real-time host monitoring with lightweight sub-100ms polling that tracks CPU, memory, and disk health without degrading host performance. Second, a comprehensive CPU Execution Studio supporting four core scheduling algorithms, complete with interactive process editing, animated execution lanes, and a synchronized Gantt timeline. Third, an autonomic crash supervisor that detects abrupt process death and restores service within two seconds, recording a 10-field telemetry diff between old and new PIDs. Fourth, a full Deadlock Studio with animated SVG Resource Allocation Graphs, automated cycle detection, Banker's Algorithm verification, step-by-step victim preemption, and synthesized audio feedback. All objectives were achieved and verified via 114 automated tests.</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4</a:t>
            </a:fld>
            <a:endParaRPr lang="en-IN"/>
          </a:p>
        </p:txBody>
      </p:sp>
    </p:spTree>
    <p:extLst>
      <p:ext uri="{BB962C8B-B14F-4D97-AF65-F5344CB8AC3E}">
        <p14:creationId xmlns:p14="http://schemas.microsoft.com/office/powerpoint/2010/main" val="3956042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Slide 5 presents our proposed solution: the HealOS architecture. HealOS organizes complex operating system domains into three cohesive, interactive web laboratories accessible via any modern browser. Pillar 1 addresses system observability and fault tolerance through our System Overview and Self-Healing engine. Pillar 2 tackles CPU process execution through our 3-stage animated CPU Execution Studio. Pillar 3 unpacks resource contention and synchronization deadlocks through our animated RAG and Banker's Algorithm lab. Crucially, HealOS was engineered with zero external JavaScript frameworks—no React, no Angular, no npm dependencies. Everything runs natively on Python's built-in HTTP server with native SVG rendering and the Web Audio API, ensuring instant deployment, minimal overhead, and maximum portability.</a:t>
            </a:r>
          </a:p>
        </p:txBody>
      </p:sp>
      <p:sp>
        <p:nvSpPr>
          <p:cNvPr id="4" name="Slide Number Placeholder 3"/>
          <p:cNvSpPr>
            <a:spLocks noGrp="1"/>
          </p:cNvSpPr>
          <p:nvPr>
            <p:ph type="sldNum" sz="quarter" idx="5"/>
          </p:nvPr>
        </p:nvSpPr>
        <p:spPr/>
        <p:txBody>
          <a:bodyPr/>
          <a:lstStyle/>
          <a:p>
            <a:fld id="{B7F4C262-9914-41FF-AB0F-961778AD1792}" type="slidenum">
              <a:rPr lang="en-IN" smtClean="0"/>
              <a:t>5</a:t>
            </a:fld>
            <a:endParaRPr lang="en-IN"/>
          </a:p>
        </p:txBody>
      </p:sp>
    </p:spTree>
    <p:extLst>
      <p:ext uri="{BB962C8B-B14F-4D97-AF65-F5344CB8AC3E}">
        <p14:creationId xmlns:p14="http://schemas.microsoft.com/office/powerpoint/2010/main" val="2492539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6 reviews existing literature and instructional systems. While systems like Stanford's Pintos and Berkeley's Nachos have been staples of OS education for decades, they suffer from high barrier-to-entry, command-line opacity, and steep setup hurdles. Standalone tools like CPU-OS Sim provided early visual aids but relied on outdated desktop Java applets and lacked integration with live operating system telemetry or self-healing mechanisms. HealOS advances the state of the art by combining live host instrumentation via psutil with interactive, zero-dependency browser simulations of classical algorithms. Furthermore, our design directly operationalizes Dijkstra's Banker's Algorithm, Coffman's four deadlock conditions, and Kephart and Chess's autonomic self-healing principles into an accessible, unified platform.</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6</a:t>
            </a:fld>
            <a:endParaRPr lang="en-IN"/>
          </a:p>
        </p:txBody>
      </p:sp>
    </p:spTree>
    <p:extLst>
      <p:ext uri="{BB962C8B-B14F-4D97-AF65-F5344CB8AC3E}">
        <p14:creationId xmlns:p14="http://schemas.microsoft.com/office/powerpoint/2010/main" val="219256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7 details the system architecture of HealOS, structured into three clean, modular tiers. At Tier 1, the user interacts with a responsive, dark-mode web console featuring SVG vector graphics, animated canvas sparklines, and a Web Audio synthesizer. At Tier 2, Python's built-in ThreadingHTTPServer serves the single-page application and handles REST API requests asynchronously without external web frameworks. At Tier 3, five specialized backend engines execute core OS logic: the System Monitor polls host hardware via psutil; the Process Supervisor manages the child process lifecycle with crash detection; the CPU Scheduler computes deterministic timelines and metric tables; the Deadlock Engine performs graph cycle detection and Banker's safety verification; and the PID Comparison Engine captures 10-field telemetry diffs across crash events. This modular design isolates simulation logic from telemetry and ensures robust, maintainable code.</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7</a:t>
            </a:fld>
            <a:endParaRPr lang="en-IN"/>
          </a:p>
        </p:txBody>
      </p:sp>
    </p:spTree>
    <p:extLst>
      <p:ext uri="{BB962C8B-B14F-4D97-AF65-F5344CB8AC3E}">
        <p14:creationId xmlns:p14="http://schemas.microsoft.com/office/powerpoint/2010/main" val="1645939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8 outlines the technical stack powering HealOS. We adhered to a strict minimalist, high-reliability engineering philosophy: CPython 3.11 and 3.12 form the runtime backbone, utilizing standard library modules like threading, subprocess, and http.server for backend concurrency and communication. For hardware and process telemetry, we rely on psutil, allowing cross-platform parity between Windows and Linux. On the frontend, we deliberately avoided bloated JavaScript frameworks; instead, we leveraged native HTML5 Canvas, SVG vector rendering, and the Web Audio API for rich visual and auditory feedback. Quality assurance is backed by 114 automated pytest tests covering scheduler math, crash detection algorithms, and Banker's safety state machines.</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8</a:t>
            </a:fld>
            <a:endParaRPr lang="en-IN"/>
          </a:p>
        </p:txBody>
      </p:sp>
    </p:spTree>
    <p:extLst>
      <p:ext uri="{BB962C8B-B14F-4D97-AF65-F5344CB8AC3E}">
        <p14:creationId xmlns:p14="http://schemas.microsoft.com/office/powerpoint/2010/main" val="372830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9 explains the implementation and operational workflow across all three functional tabs of HealOS. In Tab 1, the system monitors host health and executes our autonomic recovery lifecycle: clicking 'Simulate Crash' terminates the supervised process, triggering an automated sequence from CRASHED through RECOVERING to RESTARTED, capturing a 10-field telemetry comparison table. In Tab 2, our CPU Scheduling Studio animates processes through a 3-stage visual pipeline—Ready Queue, Active CPU Core 0, and Completed—while decrementing remaining burst times in real time and synchronizing with an SVG Gantt chart. In Tab 3, the Deadlock Lab renders an interactive Resource Allocation Graph, runs DFS cycle detection to identify circular wait conditions, and performs step-by-step victim preemption or Banker's safe sequence analysis. Each tab combines mathematical precision with intuitive visual and auditory feedback.</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9</a:t>
            </a:fld>
            <a:endParaRPr lang="en-IN"/>
          </a:p>
        </p:txBody>
      </p:sp>
    </p:spTree>
    <p:extLst>
      <p:ext uri="{BB962C8B-B14F-4D97-AF65-F5344CB8AC3E}">
        <p14:creationId xmlns:p14="http://schemas.microsoft.com/office/powerpoint/2010/main" val="2684569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10 presents the verified results and demonstration data from the running application. On the left, you can see the actual user interface running in modern dark navy theme with real-time SVG charts. On the right, we highlight verified empirical measurements from our test suites. In our CPU scheduling benchmark, Shortest Job First achieved the minimum average waiting time of 4.50 time units compared to 6.25 for FCFS and 7.50 for Round Robin, exactly corroborating theoretical optimality. In our autonomic crash recovery test, our supervisor detected the crash in 0.42 seconds and completed the full restart cycle in 1.23 seconds—well below our two-second threshold—with full telemetry re-established under a new PID. Finally, our automated test suite executed 114 unit and integration tests with a 100% pass rate.</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10</a:t>
            </a:fld>
            <a:endParaRPr lang="en-IN"/>
          </a:p>
        </p:txBody>
      </p:sp>
    </p:spTree>
    <p:extLst>
      <p:ext uri="{BB962C8B-B14F-4D97-AF65-F5344CB8AC3E}">
        <p14:creationId xmlns:p14="http://schemas.microsoft.com/office/powerpoint/2010/main" val="2488031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11 outlines our prospective future scope, strictly differentiating planned advancements from what is already implemented. While HealOS currently masters single-core CPU scheduling, autonomic crash recovery, and single-host deadlock analysis, four high-impact directions represent natural extensions: First, expanding to Multi-Core SMP and NUMA architectures with multi-queue scheduling and core affinity. Second, implementing a dedicated Virtual Memory studio simulating page tables, TLB hits/misses, and page replacement policies like LRU and Clock. Third, extending concurrency into distributed environments by implementing distributed deadlock detection and Raft consensus algorithms. Finally, leveraging modern Linux eBPF probes for kernel-level context switch profiling and cache miss instrumentation directly from real hardware.</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11</a:t>
            </a:fld>
            <a:endParaRPr lang="en-IN"/>
          </a:p>
        </p:txBody>
      </p:sp>
    </p:spTree>
    <p:extLst>
      <p:ext uri="{BB962C8B-B14F-4D97-AF65-F5344CB8AC3E}">
        <p14:creationId xmlns:p14="http://schemas.microsoft.com/office/powerpoint/2010/main" val="1868501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12 provides complete, genuine academic and industrial references supporting HealOS. Our theoretical frameworks directly build upon seminal papers: Dijkstra's 1965 manuscript EWD123 on cooperating sequential processes and the Banker's Algorithm; Coffman, Elphick, and Shoshani's 1971 ACM survey defining the four necessary conditions for system deadlock; and Kephart and Chess's foundational 2003 IEEE paper on autonomic computing and self-healing control loops. On the engineering side, our implementation adheres to the IEEE POSIX 1003.1 standard for process signaling, references the official Linux kernel documentation for CFS scheduling mechanics, and utilizes the official psutil documentation for cross-platform system telemetry. All citations include verified URLs and publication identifiers.</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12</a:t>
            </a:fld>
            <a:endParaRPr lang="en-IN"/>
          </a:p>
        </p:txBody>
      </p:sp>
    </p:spTree>
    <p:extLst>
      <p:ext uri="{BB962C8B-B14F-4D97-AF65-F5344CB8AC3E}">
        <p14:creationId xmlns:p14="http://schemas.microsoft.com/office/powerpoint/2010/main" val="493799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HealOS accomplishes what conventional operating systems curricula have long struggled to achieve: transforming abstract theoretical equations into an observable, interactive, and self-healing computing environment. By integrating live host hardware telemetry, an animated CPU execution studio, and a deterministic deadlock recovery laboratory into a single lightweight web console with zero third-party JavaScript dependencies, HealOS provides an unprecedented pedagogical tool. With 114 passing unit tests, sub-1.5-second autonomic recovery, and multisensory audio-visual feedback, the project demonstrates robust engineering rigor and architectural elegance. Thank you for your time, attention, and guidance. I would be pleased to answer any questions from the panel.</a:t>
            </a:r>
            <a:endParaRPr lang="en-IN"/>
          </a:p>
        </p:txBody>
      </p:sp>
      <p:sp>
        <p:nvSpPr>
          <p:cNvPr id="4" name="Slide Number Placeholder 3"/>
          <p:cNvSpPr>
            <a:spLocks noGrp="1"/>
          </p:cNvSpPr>
          <p:nvPr>
            <p:ph type="sldNum" sz="quarter" idx="5"/>
          </p:nvPr>
        </p:nvSpPr>
        <p:spPr/>
        <p:txBody>
          <a:bodyPr/>
          <a:lstStyle/>
          <a:p>
            <a:fld id="{B7F4C262-9914-41FF-AB0F-961778AD1792}" type="slidenum">
              <a:rPr lang="en-IN" smtClean="0"/>
              <a:t>13</a:t>
            </a:fld>
            <a:endParaRPr lang="en-IN"/>
          </a:p>
        </p:txBody>
      </p:sp>
    </p:spTree>
    <p:extLst>
      <p:ext uri="{BB962C8B-B14F-4D97-AF65-F5344CB8AC3E}">
        <p14:creationId xmlns:p14="http://schemas.microsoft.com/office/powerpoint/2010/main" val="242927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CFE8-6A4E-06BA-14A0-490D07590A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8D0EDE-8CE8-A9DB-CB92-A3F9D4A31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013346-45EF-BC63-EDED-9ED12B551D9D}"/>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5" name="Footer Placeholder 4">
            <a:extLst>
              <a:ext uri="{FF2B5EF4-FFF2-40B4-BE49-F238E27FC236}">
                <a16:creationId xmlns:a16="http://schemas.microsoft.com/office/drawing/2014/main" id="{57DFBC66-79B6-3148-5802-84596B6547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5E5B9-FA3B-0EFE-520A-57CC9CFEFC97}"/>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2150862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2BA85-C415-4754-0140-80B7305271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BA4E38-82D0-0525-DE1E-13E796C85C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A8C137-90BB-A594-EEBB-3CA5614F956C}"/>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5" name="Footer Placeholder 4">
            <a:extLst>
              <a:ext uri="{FF2B5EF4-FFF2-40B4-BE49-F238E27FC236}">
                <a16:creationId xmlns:a16="http://schemas.microsoft.com/office/drawing/2014/main" id="{D331A0CA-8757-E710-4645-6E90A9510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46E087-2884-7E67-1268-0C451CEF7DA0}"/>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561849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C7E0-5336-2069-DC4B-962F3DCF4A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8DA122-044E-EE8A-B9E3-C7970D8AB5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216741-1157-F024-9DC7-864B00AE40D6}"/>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5" name="Footer Placeholder 4">
            <a:extLst>
              <a:ext uri="{FF2B5EF4-FFF2-40B4-BE49-F238E27FC236}">
                <a16:creationId xmlns:a16="http://schemas.microsoft.com/office/drawing/2014/main" id="{DDD36B4F-A978-0C36-404F-30E6046CA7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B4270B-2EBD-2CC8-C8B4-EFEEA53DD4FD}"/>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284505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A9922-6F04-5D98-EDD5-8F9C8AFF97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FDD317-2A80-70E8-4C21-411D3353BE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18B009-167E-48B8-0D98-54E5119AF1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C145220-FAEE-7A30-9355-82EA95ADD5A4}"/>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6" name="Footer Placeholder 5">
            <a:extLst>
              <a:ext uri="{FF2B5EF4-FFF2-40B4-BE49-F238E27FC236}">
                <a16:creationId xmlns:a16="http://schemas.microsoft.com/office/drawing/2014/main" id="{35DA782B-C5E9-A94B-499F-36452A99CB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574266-6617-B8E8-F223-C2B9990C1A36}"/>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3631089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7125-064E-8F78-C8DC-E49804E566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9E54ED-810E-1209-3A0A-B9F74B676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B7978C-62A5-688B-7218-13CCB87C3F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9AB4C4-911D-BF04-D2A9-0774BC56C3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65DFC6-56A6-A1CE-3684-2A4D27BD3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05306A-23ED-FD7E-D846-0B689F6FBC64}"/>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8" name="Footer Placeholder 7">
            <a:extLst>
              <a:ext uri="{FF2B5EF4-FFF2-40B4-BE49-F238E27FC236}">
                <a16:creationId xmlns:a16="http://schemas.microsoft.com/office/drawing/2014/main" id="{E295F81C-C037-9646-56D6-8C6C5D2A7D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1EF245-9C44-8484-351B-BF3630ECB3CC}"/>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3455425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92DDC-C9C6-E326-5BA9-88C6553E28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10A7DD-578E-FAB9-6C03-F3F6F3930BAD}"/>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4" name="Footer Placeholder 3">
            <a:extLst>
              <a:ext uri="{FF2B5EF4-FFF2-40B4-BE49-F238E27FC236}">
                <a16:creationId xmlns:a16="http://schemas.microsoft.com/office/drawing/2014/main" id="{203D1097-7ECD-C687-ACA7-2586D8761B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F8E6F1-299C-F08D-7401-F0F3F8770C59}"/>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2003891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484DFA-8A0F-684C-200D-9D887C4CACEA}"/>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3" name="Footer Placeholder 2">
            <a:extLst>
              <a:ext uri="{FF2B5EF4-FFF2-40B4-BE49-F238E27FC236}">
                <a16:creationId xmlns:a16="http://schemas.microsoft.com/office/drawing/2014/main" id="{836C3155-81A5-6440-E72D-23BF335D36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82DEF2-19D3-96A3-F617-B7C40E738245}"/>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1861016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C9B1-B166-52EA-07E3-FE02047212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5D32C1-01AF-3D5A-EFA1-8325A77018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6F2467-8DC0-7642-3B89-343A7C179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FD1521-EA74-7C8E-B813-A2892E934185}"/>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6" name="Footer Placeholder 5">
            <a:extLst>
              <a:ext uri="{FF2B5EF4-FFF2-40B4-BE49-F238E27FC236}">
                <a16:creationId xmlns:a16="http://schemas.microsoft.com/office/drawing/2014/main" id="{2ED1A02A-A90C-1C75-ED3B-B3A47F3F89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0D07C8-0AD1-C177-0F18-97B064DE9A3C}"/>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828590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AE5D8-0B60-791F-D4F9-AFC522892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5DD1E7-B3AF-B03F-B156-24FF6FEEBEE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53880B-AA00-74A2-0356-952AF39775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03B64-3F4E-4D71-B2A5-CA9731BBE8D3}"/>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6" name="Footer Placeholder 5">
            <a:extLst>
              <a:ext uri="{FF2B5EF4-FFF2-40B4-BE49-F238E27FC236}">
                <a16:creationId xmlns:a16="http://schemas.microsoft.com/office/drawing/2014/main" id="{B9E1067C-18CF-1188-0A9C-3A703A873A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66B36D-8B9E-D286-B813-C4B6EE4CE050}"/>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37292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AF05A-82CD-D988-B31D-31830419D5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565EC2-1C72-6605-5494-50970A45A9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E001F9-04EE-7D5E-B140-B16D885B40BB}"/>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5" name="Footer Placeholder 4">
            <a:extLst>
              <a:ext uri="{FF2B5EF4-FFF2-40B4-BE49-F238E27FC236}">
                <a16:creationId xmlns:a16="http://schemas.microsoft.com/office/drawing/2014/main" id="{112ACC50-005C-6E54-1DE3-13EF458195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78492-B279-204D-C5A9-A9D8D791CEB0}"/>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3206126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5C35F8-6228-FA3F-CB4C-DECE231225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9B7020-4B8B-CE38-2F61-224B7854EE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F16158-B4C5-6B4C-CD9C-C20EB5FD0928}"/>
              </a:ext>
            </a:extLst>
          </p:cNvPr>
          <p:cNvSpPr>
            <a:spLocks noGrp="1"/>
          </p:cNvSpPr>
          <p:nvPr>
            <p:ph type="dt" sz="half" idx="10"/>
          </p:nvPr>
        </p:nvSpPr>
        <p:spPr/>
        <p:txBody>
          <a:bodyPr/>
          <a:lstStyle/>
          <a:p>
            <a:fld id="{58AF97AE-D970-4212-8AC4-0C1E07847485}" type="datetimeFigureOut">
              <a:rPr lang="en-IN" smtClean="0"/>
              <a:t>24-10-2026</a:t>
            </a:fld>
            <a:endParaRPr lang="en-IN"/>
          </a:p>
        </p:txBody>
      </p:sp>
      <p:sp>
        <p:nvSpPr>
          <p:cNvPr id="5" name="Footer Placeholder 4">
            <a:extLst>
              <a:ext uri="{FF2B5EF4-FFF2-40B4-BE49-F238E27FC236}">
                <a16:creationId xmlns:a16="http://schemas.microsoft.com/office/drawing/2014/main" id="{C69D531D-1ACA-36C6-3A3A-9F3C5166C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ADF15C-74C4-5DA5-D885-233165875587}"/>
              </a:ext>
            </a:extLst>
          </p:cNvPr>
          <p:cNvSpPr>
            <a:spLocks noGrp="1"/>
          </p:cNvSpPr>
          <p:nvPr>
            <p:ph type="sldNum" sz="quarter" idx="12"/>
          </p:nvPr>
        </p:nvSpPr>
        <p:spPr/>
        <p:txBody>
          <a:bodyPr/>
          <a:lstStyle/>
          <a:p>
            <a:fld id="{FDA6ABB8-3D21-43CA-937E-0505CBBB5604}" type="slidenum">
              <a:rPr lang="en-IN" smtClean="0"/>
              <a:t>‹#›</a:t>
            </a:fld>
            <a:endParaRPr lang="en-IN"/>
          </a:p>
        </p:txBody>
      </p:sp>
    </p:spTree>
    <p:extLst>
      <p:ext uri="{BB962C8B-B14F-4D97-AF65-F5344CB8AC3E}">
        <p14:creationId xmlns:p14="http://schemas.microsoft.com/office/powerpoint/2010/main" val="3718232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5873F3-A832-C781-D065-7AD829E16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D463D4-A280-7979-5B71-1F7F8BA41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0DE4EF-CC15-0CED-7201-5DEF354CE2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AF97AE-D970-4212-8AC4-0C1E07847485}" type="datetimeFigureOut">
              <a:rPr lang="en-IN" smtClean="0"/>
              <a:t>24-10-2026</a:t>
            </a:fld>
            <a:endParaRPr lang="en-IN"/>
          </a:p>
        </p:txBody>
      </p:sp>
      <p:sp>
        <p:nvSpPr>
          <p:cNvPr id="5" name="Footer Placeholder 4">
            <a:extLst>
              <a:ext uri="{FF2B5EF4-FFF2-40B4-BE49-F238E27FC236}">
                <a16:creationId xmlns:a16="http://schemas.microsoft.com/office/drawing/2014/main" id="{ADF36F88-D14A-A37D-9E13-6088F7CE01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A7D3B2-10E7-35FF-FEE3-F97A59046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A6ABB8-3D21-43CA-937E-0505CBBB5604}" type="slidenum">
              <a:rPr lang="en-IN" smtClean="0"/>
              <a:t>‹#›</a:t>
            </a:fld>
            <a:endParaRPr lang="en-IN"/>
          </a:p>
        </p:txBody>
      </p:sp>
    </p:spTree>
    <p:extLst>
      <p:ext uri="{BB962C8B-B14F-4D97-AF65-F5344CB8AC3E}">
        <p14:creationId xmlns:p14="http://schemas.microsoft.com/office/powerpoint/2010/main" val="2405095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D75765-D9C5-FEAC-9B60-F9EDF0BA306C}"/>
              </a:ext>
            </a:extLst>
          </p:cNvPr>
          <p:cNvSpPr/>
          <p:nvPr/>
        </p:nvSpPr>
        <p:spPr>
          <a:xfrm>
            <a:off x="0" y="0"/>
            <a:ext cx="12192000" cy="63500"/>
          </a:xfrm>
          <a:prstGeom prst="rect">
            <a:avLst/>
          </a:prstGeom>
          <a:solidFill>
            <a:srgbClr val="22D3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724C1469-D66D-37C6-CA78-EE65EE98BB18}"/>
              </a:ext>
            </a:extLst>
          </p:cNvPr>
          <p:cNvSpPr/>
          <p:nvPr/>
        </p:nvSpPr>
        <p:spPr>
          <a:xfrm>
            <a:off x="3556000" y="457200"/>
            <a:ext cx="5080000" cy="330200"/>
          </a:xfrm>
          <a:prstGeom prst="roundRect">
            <a:avLst/>
          </a:prstGeom>
          <a:solidFill>
            <a:srgbClr val="172438"/>
          </a:solidFill>
          <a:ln w="1524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950" b="1">
                <a:solidFill>
                  <a:srgbClr val="22D3EE"/>
                </a:solidFill>
                <a:latin typeface="Segoe UI" panose="020B0502040204020203" pitchFamily="34" charset="0"/>
              </a:rPr>
              <a:t>CAPSTONE PROJECT PRESENTATION | OPERATING SYSTEMS &amp; SIMULATION</a:t>
            </a:r>
            <a:endParaRPr lang="en-IN" sz="950" b="1">
              <a:solidFill>
                <a:srgbClr val="22D3EE"/>
              </a:solidFill>
              <a:latin typeface="Segoe UI" panose="020B0502040204020203" pitchFamily="34" charset="0"/>
            </a:endParaRPr>
          </a:p>
        </p:txBody>
      </p:sp>
      <p:sp>
        <p:nvSpPr>
          <p:cNvPr id="4" name="TextBox 3">
            <a:extLst>
              <a:ext uri="{FF2B5EF4-FFF2-40B4-BE49-F238E27FC236}">
                <a16:creationId xmlns:a16="http://schemas.microsoft.com/office/drawing/2014/main" id="{4CC0B07F-F352-675C-EF8A-09AA0491A8D4}"/>
              </a:ext>
            </a:extLst>
          </p:cNvPr>
          <p:cNvSpPr txBox="1"/>
          <p:nvPr/>
        </p:nvSpPr>
        <p:spPr>
          <a:xfrm>
            <a:off x="762000" y="952500"/>
            <a:ext cx="10668000" cy="615553"/>
          </a:xfrm>
          <a:prstGeom prst="rect">
            <a:avLst/>
          </a:prstGeom>
          <a:noFill/>
        </p:spPr>
        <p:txBody>
          <a:bodyPr vert="horz" wrap="square" lIns="0" tIns="0" rIns="0" bIns="0" rtlCol="0">
            <a:spAutoFit/>
          </a:bodyPr>
          <a:lstStyle/>
          <a:p>
            <a:pPr algn="ctr"/>
            <a:r>
              <a:rPr lang="en-US" sz="2800" b="1">
                <a:solidFill>
                  <a:srgbClr val="F1F5F9"/>
                </a:solidFill>
                <a:latin typeface="Segoe UI" panose="020B0502040204020203" pitchFamily="34" charset="0"/>
              </a:rPr>
              <a:t>HealOS: Operating Systems Execution &amp; Simulation
</a:t>
            </a:r>
            <a:r>
              <a:rPr lang="en-US" sz="1200">
                <a:solidFill>
                  <a:srgbClr val="94A3B8"/>
                </a:solidFill>
                <a:latin typeface="Segoe UI" panose="020B0502040204020203" pitchFamily="34" charset="0"/>
              </a:rPr>
              <a:t>An Interactive Autonomic Self-Healing Architecture, CPU Scheduling Studio &amp; Real-Time Deadlock Recovery Framework</a:t>
            </a:r>
            <a:endParaRPr lang="en-IN" sz="1200">
              <a:solidFill>
                <a:srgbClr val="94A3B8"/>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29FDC7BF-19F4-32D4-F2B2-E4043D0018C4}"/>
              </a:ext>
            </a:extLst>
          </p:cNvPr>
          <p:cNvSpPr/>
          <p:nvPr/>
        </p:nvSpPr>
        <p:spPr>
          <a:xfrm>
            <a:off x="762000" y="2349500"/>
            <a:ext cx="5143500" cy="2921000"/>
          </a:xfrm>
          <a:prstGeom prst="roundRect">
            <a:avLst/>
          </a:prstGeom>
          <a:solidFill>
            <a:srgbClr val="111C2E"/>
          </a:solidFill>
          <a:ln w="1905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080F9D6-A701-D3F4-CCE2-133C27CDF960}"/>
              </a:ext>
            </a:extLst>
          </p:cNvPr>
          <p:cNvSpPr txBox="1"/>
          <p:nvPr/>
        </p:nvSpPr>
        <p:spPr>
          <a:xfrm>
            <a:off x="1016000" y="2514600"/>
            <a:ext cx="4635500" cy="1261884"/>
          </a:xfrm>
          <a:prstGeom prst="rect">
            <a:avLst/>
          </a:prstGeom>
          <a:noFill/>
        </p:spPr>
        <p:txBody>
          <a:bodyPr vert="horz" wrap="square" lIns="0" tIns="0" rIns="0" bIns="0" rtlCol="0">
            <a:spAutoFit/>
          </a:bodyPr>
          <a:lstStyle/>
          <a:p>
            <a:r>
              <a:rPr lang="en-IN" sz="1100" b="1">
                <a:solidFill>
                  <a:srgbClr val="22D3EE"/>
                </a:solidFill>
                <a:latin typeface="Segoe UI" panose="020B0502040204020203" pitchFamily="34" charset="0"/>
              </a:rPr>
              <a:t>PROJECT &amp; CANDIDATE DETAILS
</a:t>
            </a:r>
            <a:r>
              <a:rPr lang="en-IN" sz="1000">
                <a:solidFill>
                  <a:srgbClr val="F1F5F9"/>
                </a:solidFill>
                <a:latin typeface="Segoe UI" panose="020B0502040204020203" pitchFamily="34" charset="0"/>
              </a:rPr>
              <a:t>• Project Title: HealOS 2.0 (Dual-Mode OS Visualizer)
• Domain: Systems Software, Kernel Telemetry &amp; Simulation
• Student Investigator: [Student Name - 4XXYYCSZZZ]
• Program: B.Tech / B.E. in Computer Science &amp; Engineering
• Specialization: Operating Systems &amp; High-Performance Computing
• Project Repository: github.com/user/HealOs (Verified 114 Tests)</a:t>
            </a:r>
          </a:p>
        </p:txBody>
      </p:sp>
      <p:sp>
        <p:nvSpPr>
          <p:cNvPr id="7" name="Rectangle: Rounded Corners 6">
            <a:extLst>
              <a:ext uri="{FF2B5EF4-FFF2-40B4-BE49-F238E27FC236}">
                <a16:creationId xmlns:a16="http://schemas.microsoft.com/office/drawing/2014/main" id="{BC32A4E2-34D3-89ED-8A3D-7BEFA88DC183}"/>
              </a:ext>
            </a:extLst>
          </p:cNvPr>
          <p:cNvSpPr/>
          <p:nvPr/>
        </p:nvSpPr>
        <p:spPr>
          <a:xfrm>
            <a:off x="6286500" y="2349500"/>
            <a:ext cx="5143500" cy="2921000"/>
          </a:xfrm>
          <a:prstGeom prst="roundRect">
            <a:avLst/>
          </a:prstGeom>
          <a:solidFill>
            <a:srgbClr val="111C2E"/>
          </a:solidFill>
          <a:ln w="1905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A7556D7-1CB7-F3C6-ABF2-F88B58C19CD5}"/>
              </a:ext>
            </a:extLst>
          </p:cNvPr>
          <p:cNvSpPr txBox="1"/>
          <p:nvPr/>
        </p:nvSpPr>
        <p:spPr>
          <a:xfrm>
            <a:off x="6540500" y="2514600"/>
            <a:ext cx="4635500" cy="1261884"/>
          </a:xfrm>
          <a:prstGeom prst="rect">
            <a:avLst/>
          </a:prstGeom>
          <a:noFill/>
        </p:spPr>
        <p:txBody>
          <a:bodyPr vert="horz" wrap="square" lIns="0" tIns="0" rIns="0" bIns="0" rtlCol="0">
            <a:spAutoFit/>
          </a:bodyPr>
          <a:lstStyle/>
          <a:p>
            <a:r>
              <a:rPr lang="en-IN" sz="1100" b="1">
                <a:solidFill>
                  <a:srgbClr val="22C55E"/>
                </a:solidFill>
                <a:latin typeface="Segoe UI" panose="020B0502040204020203" pitchFamily="34" charset="0"/>
              </a:rPr>
              <a:t>ACADEMIC SUPERVISION &amp; INSTITUTION
</a:t>
            </a:r>
            <a:r>
              <a:rPr lang="en-US" sz="1000">
                <a:solidFill>
                  <a:srgbClr val="F1F5F9"/>
                </a:solidFill>
                <a:latin typeface="Segoe UI" panose="020B0502040204020203" pitchFamily="34" charset="0"/>
              </a:rPr>
              <a:t>• Project Guide / Supervisor: [Faculty Guide Name, Ph.D.]
• Designation: Associate Professor, Dept. of Computer Science
• Department: Department of Computer Science &amp; Engineering
• Institution: [College of Engineering &amp; Technology Placeholder]
• Affiliated University: [State Technological University]
• Academic Evaluation Year: 2026 – 2027</a:t>
            </a:r>
            <a:endParaRPr lang="en-IN" sz="1000">
              <a:solidFill>
                <a:srgbClr val="F1F5F9"/>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E1D59D5F-69AD-5948-63A3-F8B720C8FD0F}"/>
              </a:ext>
            </a:extLst>
          </p:cNvPr>
          <p:cNvSpPr/>
          <p:nvPr/>
        </p:nvSpPr>
        <p:spPr>
          <a:xfrm>
            <a:off x="762000" y="5524500"/>
            <a:ext cx="10668000" cy="6604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8EC704E-95B9-2EFA-F302-E460E934271C}"/>
              </a:ext>
            </a:extLst>
          </p:cNvPr>
          <p:cNvSpPr txBox="1"/>
          <p:nvPr/>
        </p:nvSpPr>
        <p:spPr>
          <a:xfrm>
            <a:off x="952500" y="5613400"/>
            <a:ext cx="1841500" cy="261610"/>
          </a:xfrm>
          <a:prstGeom prst="rect">
            <a:avLst/>
          </a:prstGeom>
          <a:noFill/>
        </p:spPr>
        <p:txBody>
          <a:bodyPr vert="horz" lIns="0" tIns="0" rIns="0" bIns="0" rtlCol="0">
            <a:spAutoFit/>
          </a:bodyPr>
          <a:lstStyle/>
          <a:p>
            <a:r>
              <a:rPr lang="en-IN" sz="750" b="1">
                <a:solidFill>
                  <a:srgbClr val="94A3B8"/>
                </a:solidFill>
                <a:latin typeface="Segoe UI" panose="020B0502040204020203" pitchFamily="34" charset="0"/>
              </a:rPr>
              <a:t>CORE ENGINE
</a:t>
            </a:r>
            <a:r>
              <a:rPr lang="en-IN" sz="950" b="1">
                <a:solidFill>
                  <a:srgbClr val="22D3EE"/>
                </a:solidFill>
                <a:latin typeface="Segoe UI" panose="020B0502040204020203" pitchFamily="34" charset="0"/>
              </a:rPr>
              <a:t>Python 3.11/3.12</a:t>
            </a:r>
          </a:p>
        </p:txBody>
      </p:sp>
      <p:sp>
        <p:nvSpPr>
          <p:cNvPr id="11" name="TextBox 10">
            <a:extLst>
              <a:ext uri="{FF2B5EF4-FFF2-40B4-BE49-F238E27FC236}">
                <a16:creationId xmlns:a16="http://schemas.microsoft.com/office/drawing/2014/main" id="{923FB1EA-D623-5E0E-6929-344AA649FEF8}"/>
              </a:ext>
            </a:extLst>
          </p:cNvPr>
          <p:cNvSpPr txBox="1"/>
          <p:nvPr/>
        </p:nvSpPr>
        <p:spPr>
          <a:xfrm>
            <a:off x="3048000" y="5613400"/>
            <a:ext cx="1841500" cy="261610"/>
          </a:xfrm>
          <a:prstGeom prst="rect">
            <a:avLst/>
          </a:prstGeom>
          <a:noFill/>
        </p:spPr>
        <p:txBody>
          <a:bodyPr vert="horz" lIns="0" tIns="0" rIns="0" bIns="0" rtlCol="0">
            <a:spAutoFit/>
          </a:bodyPr>
          <a:lstStyle/>
          <a:p>
            <a:r>
              <a:rPr lang="en-IN" sz="750" b="1">
                <a:solidFill>
                  <a:srgbClr val="94A3B8"/>
                </a:solidFill>
                <a:latin typeface="Segoe UI" panose="020B0502040204020203" pitchFamily="34" charset="0"/>
              </a:rPr>
              <a:t>AUTONOMIC RECOVERY
</a:t>
            </a:r>
            <a:r>
              <a:rPr lang="en-IN" sz="950" b="1">
                <a:solidFill>
                  <a:srgbClr val="22C55E"/>
                </a:solidFill>
                <a:latin typeface="Segoe UI" panose="020B0502040204020203" pitchFamily="34" charset="0"/>
              </a:rPr>
              <a:t>&lt; 2.0s Self-Healing</a:t>
            </a:r>
          </a:p>
        </p:txBody>
      </p:sp>
      <p:sp>
        <p:nvSpPr>
          <p:cNvPr id="12" name="TextBox 11">
            <a:extLst>
              <a:ext uri="{FF2B5EF4-FFF2-40B4-BE49-F238E27FC236}">
                <a16:creationId xmlns:a16="http://schemas.microsoft.com/office/drawing/2014/main" id="{8A451FCC-13F2-4DEE-E1FE-CB8DBBD44C0E}"/>
              </a:ext>
            </a:extLst>
          </p:cNvPr>
          <p:cNvSpPr txBox="1"/>
          <p:nvPr/>
        </p:nvSpPr>
        <p:spPr>
          <a:xfrm>
            <a:off x="5334000" y="5613400"/>
            <a:ext cx="1841500" cy="261610"/>
          </a:xfrm>
          <a:prstGeom prst="rect">
            <a:avLst/>
          </a:prstGeom>
          <a:noFill/>
        </p:spPr>
        <p:txBody>
          <a:bodyPr vert="horz" lIns="0" tIns="0" rIns="0" bIns="0" rtlCol="0">
            <a:spAutoFit/>
          </a:bodyPr>
          <a:lstStyle/>
          <a:p>
            <a:r>
              <a:rPr lang="en-IN" sz="750" b="1">
                <a:solidFill>
                  <a:srgbClr val="94A3B8"/>
                </a:solidFill>
                <a:latin typeface="Segoe UI" panose="020B0502040204020203" pitchFamily="34" charset="0"/>
              </a:rPr>
              <a:t>CPU SCHEDULING
</a:t>
            </a:r>
            <a:r>
              <a:rPr lang="en-IN" sz="950" b="1">
                <a:solidFill>
                  <a:srgbClr val="F59E0B"/>
                </a:solidFill>
                <a:latin typeface="Segoe UI" panose="020B0502040204020203" pitchFamily="34" charset="0"/>
              </a:rPr>
              <a:t>4 Verified Policies</a:t>
            </a:r>
          </a:p>
        </p:txBody>
      </p:sp>
      <p:sp>
        <p:nvSpPr>
          <p:cNvPr id="13" name="TextBox 12">
            <a:extLst>
              <a:ext uri="{FF2B5EF4-FFF2-40B4-BE49-F238E27FC236}">
                <a16:creationId xmlns:a16="http://schemas.microsoft.com/office/drawing/2014/main" id="{13EB4514-1885-EBC7-858E-622B0F1CE83D}"/>
              </a:ext>
            </a:extLst>
          </p:cNvPr>
          <p:cNvSpPr txBox="1"/>
          <p:nvPr/>
        </p:nvSpPr>
        <p:spPr>
          <a:xfrm>
            <a:off x="7556500" y="5613400"/>
            <a:ext cx="1841500" cy="261610"/>
          </a:xfrm>
          <a:prstGeom prst="rect">
            <a:avLst/>
          </a:prstGeom>
          <a:noFill/>
        </p:spPr>
        <p:txBody>
          <a:bodyPr vert="horz" lIns="0" tIns="0" rIns="0" bIns="0" rtlCol="0">
            <a:spAutoFit/>
          </a:bodyPr>
          <a:lstStyle/>
          <a:p>
            <a:r>
              <a:rPr lang="en-IN" sz="750" b="1">
                <a:solidFill>
                  <a:srgbClr val="94A3B8"/>
                </a:solidFill>
                <a:latin typeface="Segoe UI" panose="020B0502040204020203" pitchFamily="34" charset="0"/>
              </a:rPr>
              <a:t>DEADLOCK STUDIO
</a:t>
            </a:r>
            <a:r>
              <a:rPr lang="en-IN" sz="950" b="1">
                <a:solidFill>
                  <a:srgbClr val="A855F7"/>
                </a:solidFill>
                <a:latin typeface="Segoe UI" panose="020B0502040204020203" pitchFamily="34" charset="0"/>
              </a:rPr>
              <a:t>Banker's RAG Graph</a:t>
            </a:r>
          </a:p>
        </p:txBody>
      </p:sp>
      <p:sp>
        <p:nvSpPr>
          <p:cNvPr id="14" name="TextBox 13">
            <a:extLst>
              <a:ext uri="{FF2B5EF4-FFF2-40B4-BE49-F238E27FC236}">
                <a16:creationId xmlns:a16="http://schemas.microsoft.com/office/drawing/2014/main" id="{FD87AC0D-4DA0-3C1E-F92B-7894EAC9EA4A}"/>
              </a:ext>
            </a:extLst>
          </p:cNvPr>
          <p:cNvSpPr txBox="1"/>
          <p:nvPr/>
        </p:nvSpPr>
        <p:spPr>
          <a:xfrm>
            <a:off x="9652000" y="5613400"/>
            <a:ext cx="1841500" cy="261610"/>
          </a:xfrm>
          <a:prstGeom prst="rect">
            <a:avLst/>
          </a:prstGeom>
          <a:noFill/>
        </p:spPr>
        <p:txBody>
          <a:bodyPr vert="horz" lIns="0" tIns="0" rIns="0" bIns="0" rtlCol="0">
            <a:spAutoFit/>
          </a:bodyPr>
          <a:lstStyle/>
          <a:p>
            <a:r>
              <a:rPr lang="en-IN" sz="750" b="1">
                <a:solidFill>
                  <a:srgbClr val="94A3B8"/>
                </a:solidFill>
                <a:latin typeface="Segoe UI" panose="020B0502040204020203" pitchFamily="34" charset="0"/>
              </a:rPr>
              <a:t>TEST VERIFICATION
</a:t>
            </a:r>
            <a:r>
              <a:rPr lang="en-IN" sz="950" b="1">
                <a:solidFill>
                  <a:srgbClr val="3B82F6"/>
                </a:solidFill>
                <a:latin typeface="Segoe UI" panose="020B0502040204020203" pitchFamily="34" charset="0"/>
              </a:rPr>
              <a:t>114 / 114 Passed</a:t>
            </a:r>
          </a:p>
        </p:txBody>
      </p:sp>
      <p:sp>
        <p:nvSpPr>
          <p:cNvPr id="15" name="TextBox 14">
            <a:extLst>
              <a:ext uri="{FF2B5EF4-FFF2-40B4-BE49-F238E27FC236}">
                <a16:creationId xmlns:a16="http://schemas.microsoft.com/office/drawing/2014/main" id="{0296649A-40D5-6AF1-035D-1DF5722DC903}"/>
              </a:ext>
            </a:extLst>
          </p:cNvPr>
          <p:cNvSpPr txBox="1"/>
          <p:nvPr/>
        </p:nvSpPr>
        <p:spPr>
          <a:xfrm>
            <a:off x="762000" y="6477000"/>
            <a:ext cx="10668000" cy="130805"/>
          </a:xfrm>
          <a:prstGeom prst="rect">
            <a:avLst/>
          </a:prstGeom>
          <a:noFill/>
        </p:spPr>
        <p:txBody>
          <a:bodyPr vert="horz" lIns="0" tIns="0" rIns="0" bIns="0" rtlCol="0">
            <a:spAutoFit/>
          </a:bodyPr>
          <a:lstStyle/>
          <a:p>
            <a:pPr algn="ctr"/>
            <a:r>
              <a:rPr lang="en-US" sz="850">
                <a:solidFill>
                  <a:srgbClr val="64748B"/>
                </a:solidFill>
                <a:latin typeface="Segoe UI" panose="020B0502040204020203" pitchFamily="34" charset="0"/>
              </a:rPr>
              <a:t>HealOS Architecture | Operating Systems Capstone Presentation | Slide 1 of 13</a:t>
            </a:r>
            <a:endParaRPr lang="en-IN" sz="850">
              <a:solidFill>
                <a:srgbClr val="64748B"/>
              </a:solidFill>
              <a:latin typeface="Segoe UI" panose="020B0502040204020203" pitchFamily="34" charset="0"/>
            </a:endParaRPr>
          </a:p>
        </p:txBody>
      </p:sp>
    </p:spTree>
    <p:extLst>
      <p:ext uri="{BB962C8B-B14F-4D97-AF65-F5344CB8AC3E}">
        <p14:creationId xmlns:p14="http://schemas.microsoft.com/office/powerpoint/2010/main" val="77753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6A08541-5295-B97D-3C6A-39C4C824EF44}"/>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02 | INTRODUCTION</a:t>
            </a:r>
          </a:p>
        </p:txBody>
      </p:sp>
      <p:sp>
        <p:nvSpPr>
          <p:cNvPr id="3" name="TextBox 2">
            <a:extLst>
              <a:ext uri="{FF2B5EF4-FFF2-40B4-BE49-F238E27FC236}">
                <a16:creationId xmlns:a16="http://schemas.microsoft.com/office/drawing/2014/main" id="{5E4AC323-1E80-8F70-A65F-FFBDB570EEBD}"/>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Project Overview &amp; Core OS Principles
</a:t>
            </a:r>
            <a:r>
              <a:rPr lang="en-US" sz="1000">
                <a:solidFill>
                  <a:srgbClr val="94A3B8"/>
                </a:solidFill>
                <a:latin typeface="Segoe UI" panose="020B0502040204020203" pitchFamily="34" charset="0"/>
              </a:rPr>
              <a:t>Bridging the chasm between theoretical operating system models and live system observability.</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CD5028B4-B466-1321-CA3F-D2BAE2BFB0B6}"/>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3754C25-EA32-8FEC-EF55-A97772CA7384}"/>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3E886A3-A1DC-6F2D-117E-2F2730C4D272}"/>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42288886-35F2-AA85-C232-9415F131B92E}"/>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2 of 13</a:t>
            </a:r>
          </a:p>
        </p:txBody>
      </p:sp>
      <p:sp>
        <p:nvSpPr>
          <p:cNvPr id="8" name="Rectangle: Rounded Corners 7">
            <a:extLst>
              <a:ext uri="{FF2B5EF4-FFF2-40B4-BE49-F238E27FC236}">
                <a16:creationId xmlns:a16="http://schemas.microsoft.com/office/drawing/2014/main" id="{B528CE07-9D41-EF20-4C8C-40A3F7BEF378}"/>
              </a:ext>
            </a:extLst>
          </p:cNvPr>
          <p:cNvSpPr/>
          <p:nvPr/>
        </p:nvSpPr>
        <p:spPr>
          <a:xfrm>
            <a:off x="508000" y="952500"/>
            <a:ext cx="5397500" cy="5334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424B0AA-513A-B3AB-018D-97E1D1F28379}"/>
              </a:ext>
            </a:extLst>
          </p:cNvPr>
          <p:cNvSpPr txBox="1"/>
          <p:nvPr/>
        </p:nvSpPr>
        <p:spPr>
          <a:xfrm>
            <a:off x="698500" y="1117600"/>
            <a:ext cx="5016500" cy="3000821"/>
          </a:xfrm>
          <a:prstGeom prst="rect">
            <a:avLst/>
          </a:prstGeom>
          <a:noFill/>
        </p:spPr>
        <p:txBody>
          <a:bodyPr vert="horz" wrap="square" lIns="0" tIns="0" rIns="0" bIns="0" rtlCol="0">
            <a:spAutoFit/>
          </a:bodyPr>
          <a:lstStyle/>
          <a:p>
            <a:r>
              <a:rPr lang="en-IN" sz="1200" b="1">
                <a:solidFill>
                  <a:srgbClr val="22D3EE"/>
                </a:solidFill>
                <a:latin typeface="Segoe UI" panose="020B0502040204020203" pitchFamily="34" charset="0"/>
              </a:rPr>
              <a:t>THE HEALOS MISSION &amp; PARADIGM
</a:t>
            </a:r>
            <a:r>
              <a:rPr lang="en-IN" sz="950" b="1">
                <a:solidFill>
                  <a:srgbClr val="F1F5F9"/>
                </a:solidFill>
                <a:latin typeface="Segoe UI" panose="020B0502040204020203" pitchFamily="34" charset="0"/>
              </a:rPr>
              <a:t>• Demystifying Kernel Internals:
  Modern OS kernels (Linux, Windows) deliberately encapsulate process scheduling,   synchronization locks, and memory paging behind hardware abstraction layers.   HealOS renders these internal lifecycles observable in real time.
• Dual-Mode Architecture:
  Unlike pure toy simulators or passive monitoring dashboards, HealOS operates as a dual-mode   engine: capturing genuine live host hardware telemetry while simultaneously running   mathematically deterministic simulation studios.
• Autonomic Self-Healing Loop:
  Implements closed-loop fault tolerance inspired by IBM's Autonomic Computing paradigm.   Crashed child services are detected via OS signals, tracked across PID transitions,   and respawned automatically within 2.0 seconds.
• Zero Third-Party Web Runtimes:
  Constructed using standard Python standard library (http.server), native SVG/Canvas DOM,   and Web Audio API—achieving zero external npm/JS runtime dependencies.</a:t>
            </a:r>
          </a:p>
        </p:txBody>
      </p:sp>
      <p:sp>
        <p:nvSpPr>
          <p:cNvPr id="10" name="Rectangle: Rounded Corners 9">
            <a:extLst>
              <a:ext uri="{FF2B5EF4-FFF2-40B4-BE49-F238E27FC236}">
                <a16:creationId xmlns:a16="http://schemas.microsoft.com/office/drawing/2014/main" id="{1605F172-8628-9D49-0B3D-A2599B04040A}"/>
              </a:ext>
            </a:extLst>
          </p:cNvPr>
          <p:cNvSpPr/>
          <p:nvPr/>
        </p:nvSpPr>
        <p:spPr>
          <a:xfrm>
            <a:off x="6096000" y="952500"/>
            <a:ext cx="5588000" cy="12065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5F83848-D668-3205-7137-BCB8B5483F00}"/>
              </a:ext>
            </a:extLst>
          </p:cNvPr>
          <p:cNvSpPr txBox="1"/>
          <p:nvPr/>
        </p:nvSpPr>
        <p:spPr>
          <a:xfrm>
            <a:off x="6286500" y="1079500"/>
            <a:ext cx="5207000" cy="438582"/>
          </a:xfrm>
          <a:prstGeom prst="rect">
            <a:avLst/>
          </a:prstGeom>
          <a:noFill/>
        </p:spPr>
        <p:txBody>
          <a:bodyPr vert="horz" wrap="square" lIns="0" tIns="0" rIns="0" bIns="0" rtlCol="0">
            <a:spAutoFit/>
          </a:bodyPr>
          <a:lstStyle/>
          <a:p>
            <a:r>
              <a:rPr lang="en-IN" sz="1050" b="1">
                <a:solidFill>
                  <a:srgbClr val="22D3EE"/>
                </a:solidFill>
                <a:latin typeface="Segoe UI" panose="020B0502040204020203" pitchFamily="34" charset="0"/>
              </a:rPr>
              <a:t>PROCESS LIFECYCLE &amp; POSIX SIGNALS
</a:t>
            </a:r>
            <a:r>
              <a:rPr lang="en-US" sz="900" b="1">
                <a:solidFill>
                  <a:srgbClr val="94A3B8"/>
                </a:solidFill>
                <a:latin typeface="Segoe UI" panose="020B0502040204020203" pitchFamily="34" charset="0"/>
              </a:rPr>
              <a:t>Tracks process transitions (NEW -&gt; READY -&gt; RUNNING -&gt; TERMINATED). Demonstrates signal handling (SIGTERM/SIGKILL) and PID re-assignment on crash recovery.</a:t>
            </a:r>
            <a:endParaRPr lang="en-IN" sz="900" b="1">
              <a:solidFill>
                <a:srgbClr val="94A3B8"/>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C11ED687-2D78-A8DC-A426-DC313EE3A2DF}"/>
              </a:ext>
            </a:extLst>
          </p:cNvPr>
          <p:cNvSpPr/>
          <p:nvPr/>
        </p:nvSpPr>
        <p:spPr>
          <a:xfrm>
            <a:off x="6096000" y="2286000"/>
            <a:ext cx="5588000" cy="12065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20B712B-D4AF-743B-5471-2702EACFBF57}"/>
              </a:ext>
            </a:extLst>
          </p:cNvPr>
          <p:cNvSpPr txBox="1"/>
          <p:nvPr/>
        </p:nvSpPr>
        <p:spPr>
          <a:xfrm>
            <a:off x="6286500" y="2413000"/>
            <a:ext cx="5207000" cy="438582"/>
          </a:xfrm>
          <a:prstGeom prst="rect">
            <a:avLst/>
          </a:prstGeom>
          <a:noFill/>
        </p:spPr>
        <p:txBody>
          <a:bodyPr vert="horz" wrap="square" lIns="0" tIns="0" rIns="0" bIns="0" rtlCol="0">
            <a:spAutoFit/>
          </a:bodyPr>
          <a:lstStyle/>
          <a:p>
            <a:r>
              <a:rPr lang="en-IN" sz="1050" b="1">
                <a:solidFill>
                  <a:srgbClr val="22C55E"/>
                </a:solidFill>
                <a:latin typeface="Segoe UI" panose="020B0502040204020203" pitchFamily="34" charset="0"/>
              </a:rPr>
              <a:t>CPU SCHEDULING &amp; PREEMPTION
</a:t>
            </a:r>
            <a:r>
              <a:rPr lang="en-US" sz="900" b="1">
                <a:solidFill>
                  <a:srgbClr val="94A3B8"/>
                </a:solidFill>
                <a:latin typeface="Segoe UI" panose="020B0502040204020203" pitchFamily="34" charset="0"/>
              </a:rPr>
              <a:t>Executes FCFS, Shortest Job First (SJF), Round Robin (q=2), and Priority Scheduling. Computes turnaround time, waiting time, and animated Gantt timelines.</a:t>
            </a:r>
            <a:endParaRPr lang="en-IN" sz="900" b="1">
              <a:solidFill>
                <a:srgbClr val="94A3B8"/>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8AECD26E-A599-7BB4-048B-98159F8DD80B}"/>
              </a:ext>
            </a:extLst>
          </p:cNvPr>
          <p:cNvSpPr/>
          <p:nvPr/>
        </p:nvSpPr>
        <p:spPr>
          <a:xfrm>
            <a:off x="6096000" y="3619500"/>
            <a:ext cx="5588000" cy="12065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C7A5ED0F-FF9C-17A2-9989-F30EB8DC5F77}"/>
              </a:ext>
            </a:extLst>
          </p:cNvPr>
          <p:cNvSpPr txBox="1"/>
          <p:nvPr/>
        </p:nvSpPr>
        <p:spPr>
          <a:xfrm>
            <a:off x="6286500" y="3746500"/>
            <a:ext cx="5207000" cy="438582"/>
          </a:xfrm>
          <a:prstGeom prst="rect">
            <a:avLst/>
          </a:prstGeom>
          <a:noFill/>
        </p:spPr>
        <p:txBody>
          <a:bodyPr vert="horz" wrap="square" lIns="0" tIns="0" rIns="0" bIns="0" rtlCol="0">
            <a:spAutoFit/>
          </a:bodyPr>
          <a:lstStyle/>
          <a:p>
            <a:r>
              <a:rPr lang="en-IN" sz="1050" b="1">
                <a:solidFill>
                  <a:srgbClr val="F59E0B"/>
                </a:solidFill>
                <a:latin typeface="Segoe UI" panose="020B0502040204020203" pitchFamily="34" charset="0"/>
              </a:rPr>
              <a:t>RESOURCE ALLOCATION &amp; DEADLOCK
</a:t>
            </a:r>
            <a:r>
              <a:rPr lang="en-IN" sz="900" b="1">
                <a:solidFill>
                  <a:srgbClr val="94A3B8"/>
                </a:solidFill>
                <a:latin typeface="Segoe UI" panose="020B0502040204020203" pitchFamily="34" charset="0"/>
              </a:rPr>
              <a:t>Models Coffman conditions via animated Resource Allocation Graphs (RAG). Detects circular wait cycles and evaluates Dijkstra's Banker's Algorithm safety vectors.</a:t>
            </a:r>
          </a:p>
        </p:txBody>
      </p:sp>
      <p:sp>
        <p:nvSpPr>
          <p:cNvPr id="16" name="Rectangle: Rounded Corners 15">
            <a:extLst>
              <a:ext uri="{FF2B5EF4-FFF2-40B4-BE49-F238E27FC236}">
                <a16:creationId xmlns:a16="http://schemas.microsoft.com/office/drawing/2014/main" id="{4A36B6D3-D12A-306E-DF09-39A444F8E2FA}"/>
              </a:ext>
            </a:extLst>
          </p:cNvPr>
          <p:cNvSpPr/>
          <p:nvPr/>
        </p:nvSpPr>
        <p:spPr>
          <a:xfrm>
            <a:off x="6096000" y="4953000"/>
            <a:ext cx="5588000" cy="12065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01B7DFD3-DCE6-3FDC-59E7-C7F0D68827FC}"/>
              </a:ext>
            </a:extLst>
          </p:cNvPr>
          <p:cNvSpPr txBox="1"/>
          <p:nvPr/>
        </p:nvSpPr>
        <p:spPr>
          <a:xfrm>
            <a:off x="6286500" y="5080000"/>
            <a:ext cx="5207000" cy="438582"/>
          </a:xfrm>
          <a:prstGeom prst="rect">
            <a:avLst/>
          </a:prstGeom>
          <a:noFill/>
        </p:spPr>
        <p:txBody>
          <a:bodyPr vert="horz" wrap="square" lIns="0" tIns="0" rIns="0" bIns="0" rtlCol="0">
            <a:spAutoFit/>
          </a:bodyPr>
          <a:lstStyle/>
          <a:p>
            <a:r>
              <a:rPr lang="en-IN" sz="1050" b="1">
                <a:solidFill>
                  <a:srgbClr val="A855F7"/>
                </a:solidFill>
                <a:latin typeface="Segoe UI" panose="020B0502040204020203" pitchFamily="34" charset="0"/>
              </a:rPr>
              <a:t>AUTONOMIC FAULT TOLERANCE
</a:t>
            </a:r>
            <a:r>
              <a:rPr lang="en-US" sz="900" b="1">
                <a:solidFill>
                  <a:srgbClr val="94A3B8"/>
                </a:solidFill>
                <a:latin typeface="Segoe UI" panose="020B0502040204020203" pitchFamily="34" charset="0"/>
              </a:rPr>
              <a:t>Continuous heartbeat monitoring, anomaly detection, bounded memory leak stress testing, and automated process respawning with 10-field telemetry diff.</a:t>
            </a:r>
            <a:endParaRPr lang="en-IN" sz="900" b="1">
              <a:solidFill>
                <a:srgbClr val="94A3B8"/>
              </a:solidFill>
              <a:latin typeface="Segoe UI" panose="020B0502040204020203" pitchFamily="34" charset="0"/>
            </a:endParaRPr>
          </a:p>
        </p:txBody>
      </p:sp>
    </p:spTree>
    <p:extLst>
      <p:ext uri="{BB962C8B-B14F-4D97-AF65-F5344CB8AC3E}">
        <p14:creationId xmlns:p14="http://schemas.microsoft.com/office/powerpoint/2010/main" val="1092730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322F398-5C71-0773-3E4E-5256361B60FA}"/>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03 | PROBLEM STATEMENT</a:t>
            </a:r>
          </a:p>
        </p:txBody>
      </p:sp>
      <p:sp>
        <p:nvSpPr>
          <p:cNvPr id="3" name="TextBox 2">
            <a:extLst>
              <a:ext uri="{FF2B5EF4-FFF2-40B4-BE49-F238E27FC236}">
                <a16:creationId xmlns:a16="http://schemas.microsoft.com/office/drawing/2014/main" id="{A6C7B87D-4F47-A82F-8A96-55C390A6D5CC}"/>
              </a:ext>
            </a:extLst>
          </p:cNvPr>
          <p:cNvSpPr txBox="1"/>
          <p:nvPr/>
        </p:nvSpPr>
        <p:spPr>
          <a:xfrm>
            <a:off x="2667000" y="127000"/>
            <a:ext cx="9017000" cy="430887"/>
          </a:xfrm>
          <a:prstGeom prst="rect">
            <a:avLst/>
          </a:prstGeom>
          <a:noFill/>
        </p:spPr>
        <p:txBody>
          <a:bodyPr vert="horz" wrap="square" lIns="0" tIns="0" rIns="0" bIns="0" rtlCol="0">
            <a:spAutoFit/>
          </a:bodyPr>
          <a:lstStyle/>
          <a:p>
            <a:r>
              <a:rPr lang="en-US" b="1">
                <a:solidFill>
                  <a:srgbClr val="F1F5F9"/>
                </a:solidFill>
                <a:latin typeface="Segoe UI" panose="020B0502040204020203" pitchFamily="34" charset="0"/>
              </a:rPr>
              <a:t>The Challenge of Abstract OS Concepts
</a:t>
            </a:r>
            <a:r>
              <a:rPr lang="en-US" sz="1000">
                <a:solidFill>
                  <a:srgbClr val="94A3B8"/>
                </a:solidFill>
                <a:latin typeface="Segoe UI" panose="020B0502040204020203" pitchFamily="34" charset="0"/>
              </a:rPr>
              <a:t>Why conventional operating system pedagogy and CLI tools fail to convey internal mechanics.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075D96F1-5CFB-5BE6-B53A-9090B27DC7DE}"/>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3F6BFBF-9B72-ACC1-85F6-0D903B209AC9}"/>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1D3233C-DE1A-6ABC-4BFF-0E391D16111F}"/>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C5F0CA54-39E8-4A78-5E9C-ABC4A30049C9}"/>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3 of 13</a:t>
            </a:r>
          </a:p>
        </p:txBody>
      </p:sp>
      <p:sp>
        <p:nvSpPr>
          <p:cNvPr id="8" name="Rectangle: Rounded Corners 7">
            <a:extLst>
              <a:ext uri="{FF2B5EF4-FFF2-40B4-BE49-F238E27FC236}">
                <a16:creationId xmlns:a16="http://schemas.microsoft.com/office/drawing/2014/main" id="{A1C48832-8943-2B70-37BD-07A3161B5422}"/>
              </a:ext>
            </a:extLst>
          </p:cNvPr>
          <p:cNvSpPr/>
          <p:nvPr/>
        </p:nvSpPr>
        <p:spPr>
          <a:xfrm>
            <a:off x="5080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6E22D22-37D3-5C74-FD0D-AF4C350D3E3D}"/>
              </a:ext>
            </a:extLst>
          </p:cNvPr>
          <p:cNvSpPr txBox="1"/>
          <p:nvPr/>
        </p:nvSpPr>
        <p:spPr>
          <a:xfrm>
            <a:off x="685800" y="1117600"/>
            <a:ext cx="3073400" cy="1932837"/>
          </a:xfrm>
          <a:prstGeom prst="rect">
            <a:avLst/>
          </a:prstGeom>
          <a:noFill/>
        </p:spPr>
        <p:txBody>
          <a:bodyPr vert="horz" wrap="square" lIns="0" tIns="0" rIns="0" bIns="0" rtlCol="0">
            <a:spAutoFit/>
          </a:bodyPr>
          <a:lstStyle/>
          <a:p>
            <a:r>
              <a:rPr lang="en-US" sz="1000" b="1">
                <a:solidFill>
                  <a:srgbClr val="22D3EE"/>
                </a:solidFill>
                <a:latin typeface="Segoe UI" panose="020B0502040204020203" pitchFamily="34" charset="0"/>
              </a:rPr>
              <a:t>1. KERNEL INVISIBILITY &amp; BLACK-BOX EXECUTION
</a:t>
            </a:r>
            <a:r>
              <a:rPr lang="en-US" sz="880" b="1">
                <a:solidFill>
                  <a:srgbClr val="F1F5F9"/>
                </a:solidFill>
                <a:latin typeface="Segoe UI" panose="020B0502040204020203" pitchFamily="34" charset="0"/>
              </a:rPr>
              <a:t>• The Reality:
  Operating system kernels isolate low-level resource management from user-space applications. CPU dispatching, context switching, and ready queue transitions occur in microsecond bursts inside privileged rings (Ring 0).
• The Pedagogical Gap:
  Students calculate turnaround and waiting times mathematically on paper (TAT = CT - AT) but lack an intuitive grasp of preemption, time quantum expiry, or ready queue reordering during live execution.</a:t>
            </a:r>
            <a:endParaRPr lang="en-IN" sz="880" b="1">
              <a:solidFill>
                <a:srgbClr val="F1F5F9"/>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C3BCDF8F-384D-33FD-A31C-FFE244CCA0E0}"/>
              </a:ext>
            </a:extLst>
          </p:cNvPr>
          <p:cNvSpPr/>
          <p:nvPr/>
        </p:nvSpPr>
        <p:spPr>
          <a:xfrm>
            <a:off x="43815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6D10811-8FCC-37DD-D458-89BD8843DC11}"/>
              </a:ext>
            </a:extLst>
          </p:cNvPr>
          <p:cNvSpPr txBox="1"/>
          <p:nvPr/>
        </p:nvSpPr>
        <p:spPr>
          <a:xfrm>
            <a:off x="4559300" y="1117600"/>
            <a:ext cx="3073400" cy="1797415"/>
          </a:xfrm>
          <a:prstGeom prst="rect">
            <a:avLst/>
          </a:prstGeom>
          <a:noFill/>
        </p:spPr>
        <p:txBody>
          <a:bodyPr vert="horz" wrap="square" lIns="0" tIns="0" rIns="0" bIns="0" rtlCol="0">
            <a:spAutoFit/>
          </a:bodyPr>
          <a:lstStyle/>
          <a:p>
            <a:r>
              <a:rPr lang="fr-FR" sz="1000" b="1">
                <a:solidFill>
                  <a:srgbClr val="F59E0B"/>
                </a:solidFill>
                <a:latin typeface="Segoe UI" panose="020B0502040204020203" pitchFamily="34" charset="0"/>
              </a:rPr>
              <a:t>2. OPAQUE CRASH LIFECYCLES &amp; SILENT FAILURES
</a:t>
            </a:r>
            <a:r>
              <a:rPr lang="en-US" sz="880" b="1">
                <a:solidFill>
                  <a:srgbClr val="F1F5F9"/>
                </a:solidFill>
                <a:latin typeface="Segoe UI" panose="020B0502040204020203" pitchFamily="34" charset="0"/>
              </a:rPr>
              <a:t>• The Reality:
  In production systems, process crashes (unhandled exceptions, memory exhaustion, segmentation faults) typically manifest as cryptic exit codes in syslog or event viewer without visible transition states.
• The Engineering Gap:
  Autonomic self-healing and fault tolerance principles—heartbeat tracking, exponential backoff, state reconciliation, and PID reassignment—are rarely taught through interactive, observable systems.</a:t>
            </a:r>
            <a:endParaRPr lang="en-IN" sz="880" b="1">
              <a:solidFill>
                <a:srgbClr val="F1F5F9"/>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83A31AF7-9BF5-6A62-6E65-9B060EFA93C9}"/>
              </a:ext>
            </a:extLst>
          </p:cNvPr>
          <p:cNvSpPr/>
          <p:nvPr/>
        </p:nvSpPr>
        <p:spPr>
          <a:xfrm>
            <a:off x="82550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88AD10C-BABA-5EEF-9266-3E1383D0B2BA}"/>
              </a:ext>
            </a:extLst>
          </p:cNvPr>
          <p:cNvSpPr txBox="1"/>
          <p:nvPr/>
        </p:nvSpPr>
        <p:spPr>
          <a:xfrm>
            <a:off x="8432800" y="1117600"/>
            <a:ext cx="3073400" cy="1797415"/>
          </a:xfrm>
          <a:prstGeom prst="rect">
            <a:avLst/>
          </a:prstGeom>
          <a:noFill/>
        </p:spPr>
        <p:txBody>
          <a:bodyPr vert="horz" wrap="square" lIns="0" tIns="0" rIns="0" bIns="0" rtlCol="0">
            <a:spAutoFit/>
          </a:bodyPr>
          <a:lstStyle/>
          <a:p>
            <a:r>
              <a:rPr lang="en-US" sz="1000" b="1">
                <a:solidFill>
                  <a:srgbClr val="EF4444"/>
                </a:solidFill>
                <a:latin typeface="Segoe UI" panose="020B0502040204020203" pitchFamily="34" charset="0"/>
              </a:rPr>
              <a:t>3. STATIC MATRICES VS. DYNAMIC DEADLOCK
</a:t>
            </a:r>
            <a:r>
              <a:rPr lang="en-US" sz="880" b="1">
                <a:solidFill>
                  <a:srgbClr val="F1F5F9"/>
                </a:solidFill>
                <a:latin typeface="Segoe UI" panose="020B0502040204020203" pitchFamily="34" charset="0"/>
              </a:rPr>
              <a:t>• The Reality:
  Classic deadlock handling (Dijkstra's Banker's Algorithm, Coffman conditions, Tarjan's cycle finding) is conventionally taught using static 2D allocation and maximum demand matrices on a chalkboard.
• The Practical Disconnect:
  Learners struggle to visualize how circular waits form dynamically over time across competing threads, and how victim preemption safely recovers throughput without triggering cascade starvation.</a:t>
            </a:r>
            <a:endParaRPr lang="en-IN" sz="880" b="1">
              <a:solidFill>
                <a:srgbClr val="F1F5F9"/>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B32E2213-7D55-4F89-B169-2869B7FF01AC}"/>
              </a:ext>
            </a:extLst>
          </p:cNvPr>
          <p:cNvSpPr/>
          <p:nvPr/>
        </p:nvSpPr>
        <p:spPr>
          <a:xfrm>
            <a:off x="508000" y="5359400"/>
            <a:ext cx="11176000" cy="914400"/>
          </a:xfrm>
          <a:prstGeom prst="roundRect">
            <a:avLst/>
          </a:prstGeom>
          <a:solidFill>
            <a:srgbClr val="172438"/>
          </a:solidFill>
          <a:ln w="1524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DDB66461-8EAB-EEDB-F478-53B18606E354}"/>
              </a:ext>
            </a:extLst>
          </p:cNvPr>
          <p:cNvSpPr txBox="1"/>
          <p:nvPr/>
        </p:nvSpPr>
        <p:spPr>
          <a:xfrm>
            <a:off x="698500" y="5461000"/>
            <a:ext cx="10795000" cy="453970"/>
          </a:xfrm>
          <a:prstGeom prst="rect">
            <a:avLst/>
          </a:prstGeom>
          <a:noFill/>
        </p:spPr>
        <p:txBody>
          <a:bodyPr vert="horz" wrap="square" lIns="0" tIns="0" rIns="0" bIns="0" rtlCol="0">
            <a:spAutoFit/>
          </a:bodyPr>
          <a:lstStyle/>
          <a:p>
            <a:r>
              <a:rPr lang="en-US" sz="950" b="1">
                <a:solidFill>
                  <a:srgbClr val="22C55E"/>
                </a:solidFill>
                <a:latin typeface="Segoe UI" panose="020B0502040204020203" pitchFamily="34" charset="0"/>
              </a:rPr>
              <a:t>THE CORE RESEARCH &amp; ENGINEERING QUESTION:
</a:t>
            </a:r>
            <a:r>
              <a:rPr lang="en-US" sz="1000" b="1" i="1">
                <a:solidFill>
                  <a:srgbClr val="F1F5F9"/>
                </a:solidFill>
                <a:latin typeface="Segoe UI" panose="020B0502040204020203" pitchFamily="34" charset="0"/>
              </a:rPr>
              <a:t>"How can we architect a unified, zero-dependency operating systems workbench that renders invisible kernel lifecycles observable, provides deterministic interactive algorithm studios, and implements real-world autonomic crash recovery with verifiable telemetry?"</a:t>
            </a:r>
            <a:endParaRPr lang="en-IN" sz="1000" b="1" i="1">
              <a:solidFill>
                <a:srgbClr val="F1F5F9"/>
              </a:solidFill>
              <a:latin typeface="Segoe UI" panose="020B0502040204020203" pitchFamily="34" charset="0"/>
            </a:endParaRPr>
          </a:p>
        </p:txBody>
      </p:sp>
    </p:spTree>
    <p:extLst>
      <p:ext uri="{BB962C8B-B14F-4D97-AF65-F5344CB8AC3E}">
        <p14:creationId xmlns:p14="http://schemas.microsoft.com/office/powerpoint/2010/main" val="3378991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20C9C2D-3390-292A-14D1-7E98F0EEE69D}"/>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04 | OBJECTIVES</a:t>
            </a:r>
          </a:p>
        </p:txBody>
      </p:sp>
      <p:sp>
        <p:nvSpPr>
          <p:cNvPr id="3" name="TextBox 2">
            <a:extLst>
              <a:ext uri="{FF2B5EF4-FFF2-40B4-BE49-F238E27FC236}">
                <a16:creationId xmlns:a16="http://schemas.microsoft.com/office/drawing/2014/main" id="{5624D241-3390-7E0F-DC47-182315FE372E}"/>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Project Goals &amp; Measurable Deliverables
</a:t>
            </a:r>
            <a:r>
              <a:rPr lang="en-US" sz="1000">
                <a:solidFill>
                  <a:srgbClr val="94A3B8"/>
                </a:solidFill>
                <a:latin typeface="Segoe UI" panose="020B0502040204020203" pitchFamily="34" charset="0"/>
              </a:rPr>
              <a:t>Concrete, verifiable milestones established and fulfilled by the HealOS framework.</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7B6C5B79-F3E2-E448-FCFC-51CBA11367BE}"/>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1E4F4A5-8210-9964-E648-5978FA67A946}"/>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8FB489D-1C93-1FA4-8618-3873EC9C1D7F}"/>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B4886DC5-67E2-0784-9CF4-197FD18BD5CE}"/>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4 of 13</a:t>
            </a:r>
          </a:p>
        </p:txBody>
      </p:sp>
      <p:sp>
        <p:nvSpPr>
          <p:cNvPr id="8" name="Rectangle: Rounded Corners 7">
            <a:extLst>
              <a:ext uri="{FF2B5EF4-FFF2-40B4-BE49-F238E27FC236}">
                <a16:creationId xmlns:a16="http://schemas.microsoft.com/office/drawing/2014/main" id="{5E6D6AF8-D181-2570-C182-09794D737B35}"/>
              </a:ext>
            </a:extLst>
          </p:cNvPr>
          <p:cNvSpPr/>
          <p:nvPr/>
        </p:nvSpPr>
        <p:spPr>
          <a:xfrm>
            <a:off x="508000" y="952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AC51028-B8B7-CA29-68F9-89720AE15689}"/>
              </a:ext>
            </a:extLst>
          </p:cNvPr>
          <p:cNvSpPr txBox="1"/>
          <p:nvPr/>
        </p:nvSpPr>
        <p:spPr>
          <a:xfrm>
            <a:off x="698500" y="1104900"/>
            <a:ext cx="5143500" cy="838691"/>
          </a:xfrm>
          <a:prstGeom prst="rect">
            <a:avLst/>
          </a:prstGeom>
          <a:noFill/>
        </p:spPr>
        <p:txBody>
          <a:bodyPr vert="horz" wrap="square" lIns="0" tIns="0" rIns="0" bIns="0" rtlCol="0">
            <a:spAutoFit/>
          </a:bodyPr>
          <a:lstStyle/>
          <a:p>
            <a:r>
              <a:rPr lang="en-US" sz="1050" b="1">
                <a:solidFill>
                  <a:srgbClr val="22D3EE"/>
                </a:solidFill>
                <a:latin typeface="Segoe UI" panose="020B0502040204020203" pitchFamily="34" charset="0"/>
              </a:rPr>
              <a:t>OBJECTIVE 1: REAL-TIME HOST TELEMETRY &amp; OBSERVABILITY
</a:t>
            </a:r>
            <a:r>
              <a:rPr lang="en-US" sz="880" b="1">
                <a:solidFill>
                  <a:srgbClr val="F1F5F9"/>
                </a:solidFill>
                <a:latin typeface="Segoe UI" panose="020B0502040204020203" pitchFamily="34" charset="0"/>
              </a:rPr>
              <a:t>
• Scope: Develop non-intrusive host telemetry capturing CPU utilization (aggregate &amp; per-core), RAM consumption, disk storage, and process metrics via Python psutil.
• Metric: Maintain telemetry polling latency &lt; 100ms with sub-1% host CPU overhead.
• Visuals: Dynamic SVG sparkline history charts and threshold indicator markers (75%, 90%).</a:t>
            </a:r>
            <a:endParaRPr lang="en-IN" sz="880" b="1">
              <a:solidFill>
                <a:srgbClr val="F1F5F9"/>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AB6D8100-821C-2ABF-113A-54D9CFD688A4}"/>
              </a:ext>
            </a:extLst>
          </p:cNvPr>
          <p:cNvSpPr/>
          <p:nvPr/>
        </p:nvSpPr>
        <p:spPr>
          <a:xfrm>
            <a:off x="6159500" y="952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FFE5B36-8776-FD5B-0689-BEBE88FD5C20}"/>
              </a:ext>
            </a:extLst>
          </p:cNvPr>
          <p:cNvSpPr txBox="1"/>
          <p:nvPr/>
        </p:nvSpPr>
        <p:spPr>
          <a:xfrm>
            <a:off x="6350000" y="1104900"/>
            <a:ext cx="5143500" cy="974113"/>
          </a:xfrm>
          <a:prstGeom prst="rect">
            <a:avLst/>
          </a:prstGeom>
          <a:noFill/>
        </p:spPr>
        <p:txBody>
          <a:bodyPr vert="horz" wrap="square" lIns="0" tIns="0" rIns="0" bIns="0" rtlCol="0">
            <a:spAutoFit/>
          </a:bodyPr>
          <a:lstStyle/>
          <a:p>
            <a:r>
              <a:rPr lang="en-IN" sz="1050" b="1">
                <a:solidFill>
                  <a:srgbClr val="22C55E"/>
                </a:solidFill>
                <a:latin typeface="Segoe UI" panose="020B0502040204020203" pitchFamily="34" charset="0"/>
              </a:rPr>
              <a:t>OBJECTIVE 2: INTERACTIVE CPU EXECUTION STUDIO
</a:t>
            </a:r>
            <a:r>
              <a:rPr lang="en-IN" sz="880" b="1">
                <a:solidFill>
                  <a:srgbClr val="F1F5F9"/>
                </a:solidFill>
                <a:latin typeface="Segoe UI" panose="020B0502040204020203" pitchFamily="34" charset="0"/>
              </a:rPr>
              <a:t>
• Scope: Implement exact discrete-event simulation engines for FCFS, Shortest Job First (SJF), Round Robin (q=2), and Priority Scheduling.
• Metric: 3-stage animated visual pipeline (Ready Queue -&gt; CPU Core 0 -&gt; Completed Pool) with real-time remaining burst countdown: Remaining: Xt / Yt (% Done).
• Controls: Interactive Gantt timeline with synchronized playback cursor (0.5x to 4x).</a:t>
            </a:r>
          </a:p>
        </p:txBody>
      </p:sp>
      <p:sp>
        <p:nvSpPr>
          <p:cNvPr id="12" name="Rectangle: Rounded Corners 11">
            <a:extLst>
              <a:ext uri="{FF2B5EF4-FFF2-40B4-BE49-F238E27FC236}">
                <a16:creationId xmlns:a16="http://schemas.microsoft.com/office/drawing/2014/main" id="{7B7F4527-B623-16CF-360D-4111E59AF8E5}"/>
              </a:ext>
            </a:extLst>
          </p:cNvPr>
          <p:cNvSpPr/>
          <p:nvPr/>
        </p:nvSpPr>
        <p:spPr>
          <a:xfrm>
            <a:off x="508000" y="3619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C84D294-1FAB-AEEC-A35B-B7FC32B552C1}"/>
              </a:ext>
            </a:extLst>
          </p:cNvPr>
          <p:cNvSpPr txBox="1"/>
          <p:nvPr/>
        </p:nvSpPr>
        <p:spPr>
          <a:xfrm>
            <a:off x="698500" y="3771900"/>
            <a:ext cx="5143500" cy="974113"/>
          </a:xfrm>
          <a:prstGeom prst="rect">
            <a:avLst/>
          </a:prstGeom>
          <a:noFill/>
        </p:spPr>
        <p:txBody>
          <a:bodyPr vert="horz" wrap="square" lIns="0" tIns="0" rIns="0" bIns="0" rtlCol="0">
            <a:spAutoFit/>
          </a:bodyPr>
          <a:lstStyle/>
          <a:p>
            <a:r>
              <a:rPr lang="en-IN" sz="1050" b="1">
                <a:solidFill>
                  <a:srgbClr val="F59E0B"/>
                </a:solidFill>
                <a:latin typeface="Segoe UI" panose="020B0502040204020203" pitchFamily="34" charset="0"/>
              </a:rPr>
              <a:t>OBJECTIVE 3: AUTONOMIC PROCESS CRASH SUPERVISION
</a:t>
            </a:r>
            <a:r>
              <a:rPr lang="en-US" sz="880" b="1">
                <a:solidFill>
                  <a:srgbClr val="F1F5F9"/>
                </a:solidFill>
                <a:latin typeface="Segoe UI" panose="020B0502040204020203" pitchFamily="34" charset="0"/>
              </a:rPr>
              <a:t>
• Scope: Construct a closed-loop supervisor managing an external child process (apps/dummy_app.py) with single-click crash injection.
• Metric: 100% automated crash detection and restart recovery within 2.0 seconds.
• Telemetry: Extract and render a 10-field runtime comparison table (Old PID vs New PID) verifying exit codes, uptime, RSS memory, and restart latency.</a:t>
            </a:r>
            <a:endParaRPr lang="en-IN" sz="880" b="1">
              <a:solidFill>
                <a:srgbClr val="F1F5F9"/>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5B3489D3-CEF5-5C9A-545C-99712DC185A4}"/>
              </a:ext>
            </a:extLst>
          </p:cNvPr>
          <p:cNvSpPr/>
          <p:nvPr/>
        </p:nvSpPr>
        <p:spPr>
          <a:xfrm>
            <a:off x="6159500" y="3619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5D3BCAE-E59C-F7EC-5C4F-CEA2FE224DBE}"/>
              </a:ext>
            </a:extLst>
          </p:cNvPr>
          <p:cNvSpPr txBox="1"/>
          <p:nvPr/>
        </p:nvSpPr>
        <p:spPr>
          <a:xfrm>
            <a:off x="6350000" y="3771900"/>
            <a:ext cx="5143500" cy="974113"/>
          </a:xfrm>
          <a:prstGeom prst="rect">
            <a:avLst/>
          </a:prstGeom>
          <a:noFill/>
        </p:spPr>
        <p:txBody>
          <a:bodyPr vert="horz" wrap="square" lIns="0" tIns="0" rIns="0" bIns="0" rtlCol="0">
            <a:spAutoFit/>
          </a:bodyPr>
          <a:lstStyle/>
          <a:p>
            <a:r>
              <a:rPr lang="en-US" sz="1050" b="1">
                <a:solidFill>
                  <a:srgbClr val="A855F7"/>
                </a:solidFill>
                <a:latin typeface="Segoe UI" panose="020B0502040204020203" pitchFamily="34" charset="0"/>
              </a:rPr>
              <a:t>OBJECTIVE 4: REAL-TIME DEADLOCK &amp; BANKER'S STUDIO
</a:t>
            </a:r>
            <a:r>
              <a:rPr lang="en-US" sz="880" b="1">
                <a:solidFill>
                  <a:srgbClr val="F1F5F9"/>
                </a:solidFill>
                <a:latin typeface="Segoe UI" panose="020B0502040204020203" pitchFamily="34" charset="0"/>
              </a:rPr>
              <a:t>
• Scope: Build an animated SVG Resource Allocation Graph (RAG) with 3 built-in scenarios (3-process circular wait, 2-process classic, Banker's safe state).
• Detection: Automated DFS / Tarjan's cycle detection with pulsating red warning alert.
• Recovery: Step-by-step victim preemption, resource reclamation, Banker's safe sequence analysis, and 9 synthesized Web Audio sound cues.</a:t>
            </a:r>
            <a:endParaRPr lang="en-IN" sz="880" b="1">
              <a:solidFill>
                <a:srgbClr val="F1F5F9"/>
              </a:solidFill>
              <a:latin typeface="Segoe UI" panose="020B0502040204020203" pitchFamily="34" charset="0"/>
            </a:endParaRPr>
          </a:p>
        </p:txBody>
      </p:sp>
    </p:spTree>
    <p:extLst>
      <p:ext uri="{BB962C8B-B14F-4D97-AF65-F5344CB8AC3E}">
        <p14:creationId xmlns:p14="http://schemas.microsoft.com/office/powerpoint/2010/main" val="2236542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9C43838-24CB-5FE5-118D-00B7204F6BA9}"/>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05 | PROPOSED SOLUTION</a:t>
            </a:r>
          </a:p>
        </p:txBody>
      </p:sp>
      <p:sp>
        <p:nvSpPr>
          <p:cNvPr id="3" name="TextBox 2">
            <a:extLst>
              <a:ext uri="{FF2B5EF4-FFF2-40B4-BE49-F238E27FC236}">
                <a16:creationId xmlns:a16="http://schemas.microsoft.com/office/drawing/2014/main" id="{18B8721A-E448-1299-3EB3-C7CD78A68451}"/>
              </a:ext>
            </a:extLst>
          </p:cNvPr>
          <p:cNvSpPr txBox="1"/>
          <p:nvPr/>
        </p:nvSpPr>
        <p:spPr>
          <a:xfrm>
            <a:off x="2667000" y="127000"/>
            <a:ext cx="9017000" cy="430887"/>
          </a:xfrm>
          <a:prstGeom prst="rect">
            <a:avLst/>
          </a:prstGeom>
          <a:noFill/>
        </p:spPr>
        <p:txBody>
          <a:bodyPr vert="horz" wrap="square" lIns="0" tIns="0" rIns="0" bIns="0" rtlCol="0">
            <a:spAutoFit/>
          </a:bodyPr>
          <a:lstStyle/>
          <a:p>
            <a:r>
              <a:rPr lang="en-US" b="1">
                <a:solidFill>
                  <a:srgbClr val="F1F5F9"/>
                </a:solidFill>
                <a:latin typeface="Segoe UI" panose="020B0502040204020203" pitchFamily="34" charset="0"/>
              </a:rPr>
              <a:t>The HealOS 3-Pillar Unified Architecture
</a:t>
            </a:r>
            <a:r>
              <a:rPr lang="en-US" sz="1000">
                <a:solidFill>
                  <a:srgbClr val="94A3B8"/>
                </a:solidFill>
                <a:latin typeface="Segoe UI" panose="020B0502040204020203" pitchFamily="34" charset="0"/>
              </a:rPr>
              <a:t>A zero-dependency web-based operating systems simulation and telemetry workbench.</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E685C743-BBA4-697B-0A34-F31F433B8991}"/>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AC31F27-A3F1-2BC2-1398-1A2BA961D215}"/>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9300E4E-D15F-3F14-7407-89B44605C256}"/>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EBF214B6-73E7-27F1-04A7-611671408A33}"/>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5 of 13</a:t>
            </a:r>
          </a:p>
        </p:txBody>
      </p:sp>
      <p:sp>
        <p:nvSpPr>
          <p:cNvPr id="8" name="Rectangle: Rounded Corners 7">
            <a:extLst>
              <a:ext uri="{FF2B5EF4-FFF2-40B4-BE49-F238E27FC236}">
                <a16:creationId xmlns:a16="http://schemas.microsoft.com/office/drawing/2014/main" id="{8B89557A-24E6-4DB7-2965-0C668CCE5F05}"/>
              </a:ext>
            </a:extLst>
          </p:cNvPr>
          <p:cNvSpPr/>
          <p:nvPr/>
        </p:nvSpPr>
        <p:spPr>
          <a:xfrm>
            <a:off x="5080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9EF9212-BF4A-1FBF-A854-4993269A0CE7}"/>
              </a:ext>
            </a:extLst>
          </p:cNvPr>
          <p:cNvSpPr txBox="1"/>
          <p:nvPr/>
        </p:nvSpPr>
        <p:spPr>
          <a:xfrm>
            <a:off x="685800" y="1117600"/>
            <a:ext cx="3073400" cy="2377574"/>
          </a:xfrm>
          <a:prstGeom prst="rect">
            <a:avLst/>
          </a:prstGeom>
          <a:noFill/>
        </p:spPr>
        <p:txBody>
          <a:bodyPr vert="horz" wrap="square" lIns="0" tIns="0" rIns="0" bIns="0" rtlCol="0">
            <a:spAutoFit/>
          </a:bodyPr>
          <a:lstStyle/>
          <a:p>
            <a:r>
              <a:rPr lang="en-IN" sz="1000" b="1">
                <a:solidFill>
                  <a:srgbClr val="22D3EE"/>
                </a:solidFill>
                <a:latin typeface="Segoe UI" panose="020B0502040204020203" pitchFamily="34" charset="0"/>
              </a:rPr>
              <a:t>PILLAR 1: SYSTEM OVERVIEW &amp; SELF-HEALING
</a:t>
            </a:r>
            <a:r>
              <a:rPr lang="en-US" sz="850" b="1" i="1">
                <a:solidFill>
                  <a:srgbClr val="94A3B8"/>
                </a:solidFill>
                <a:latin typeface="Segoe UI" panose="020B0502040204020203" pitchFamily="34" charset="0"/>
              </a:rPr>
              <a:t>Tab 1: Host Telemetry &amp; Autonomic Supervisor
</a:t>
            </a:r>
            <a:r>
              <a:rPr lang="en-US" sz="860" b="1" i="1">
                <a:solidFill>
                  <a:srgbClr val="F1F5F9"/>
                </a:solidFill>
                <a:latin typeface="Segoe UI" panose="020B0502040204020203" pitchFamily="34" charset="0"/>
              </a:rPr>
              <a:t>• Real-time CPU (per-core), RAM, and Disk storage KPI cards with live sparklines.
• Supervised child process (dummy_app.py) with single-click 'Simulate Crash' button.
• Autonomic 6-state recovery lifecycle: RUNNING -&gt; CRASHED -&gt; DETECTED -&gt; RECOVERING -&gt; RESTARTED -&gt; RUNNING.
• 10-field runtime comparison table contrasting Old PID vs. New PID parameters.
• Safe bounded 64 MB memory stress simulation demonstrating leak pattern and OOM avoidance.</a:t>
            </a:r>
            <a:endParaRPr lang="en-IN" sz="860" b="1" i="1">
              <a:solidFill>
                <a:srgbClr val="F1F5F9"/>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87CC7594-294F-9627-4B37-54FC172DD72E}"/>
              </a:ext>
            </a:extLst>
          </p:cNvPr>
          <p:cNvSpPr/>
          <p:nvPr/>
        </p:nvSpPr>
        <p:spPr>
          <a:xfrm>
            <a:off x="43815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57EDD3D-FBA1-EB9C-6FBB-F22BC0B9C4F3}"/>
              </a:ext>
            </a:extLst>
          </p:cNvPr>
          <p:cNvSpPr txBox="1"/>
          <p:nvPr/>
        </p:nvSpPr>
        <p:spPr>
          <a:xfrm>
            <a:off x="4559300" y="1117600"/>
            <a:ext cx="3073400" cy="2246769"/>
          </a:xfrm>
          <a:prstGeom prst="rect">
            <a:avLst/>
          </a:prstGeom>
          <a:noFill/>
        </p:spPr>
        <p:txBody>
          <a:bodyPr vert="horz" wrap="square" lIns="0" tIns="0" rIns="0" bIns="0" rtlCol="0">
            <a:spAutoFit/>
          </a:bodyPr>
          <a:lstStyle/>
          <a:p>
            <a:r>
              <a:rPr lang="en-US" sz="1000" b="1">
                <a:solidFill>
                  <a:srgbClr val="22C55E"/>
                </a:solidFill>
                <a:latin typeface="Segoe UI" panose="020B0502040204020203" pitchFamily="34" charset="0"/>
              </a:rPr>
              <a:t>PILLAR 2: CPU SCHEDULING EXECUTION STUDIO
</a:t>
            </a:r>
            <a:r>
              <a:rPr lang="en-US" sz="850" b="1" i="1">
                <a:solidFill>
                  <a:srgbClr val="94A3B8"/>
                </a:solidFill>
                <a:latin typeface="Segoe UI" panose="020B0502040204020203" pitchFamily="34" charset="0"/>
              </a:rPr>
              <a:t>Tab 2: Interactive Process Lifecycle Visualizer
</a:t>
            </a:r>
            <a:r>
              <a:rPr lang="en-US" sz="860" b="1" i="1">
                <a:solidFill>
                  <a:srgbClr val="F1F5F9"/>
                </a:solidFill>
                <a:latin typeface="Segoe UI" panose="020B0502040204020203" pitchFamily="34" charset="0"/>
              </a:rPr>
              <a:t>• Process Input Studio: customize PID, Arrival Time, Burst Time, and Priority.
• Supported Algorithms: FCFS, Shortest Job First (SJF), Round Robin (q=2), Priority.
• 3-Stage Animated Execution Studio: Ready Queue -&gt; Active CPU Core 0 -&gt; Completed Pool.
• Dynamic burst countdown: Remaining: Xt / Yt (% Done) updated tick-by-tick.
• Interactive SVG Gantt timeline with synchronized cursor and speed controls (0.5x to 4x).</a:t>
            </a:r>
            <a:endParaRPr lang="en-IN" sz="860" b="1" i="1">
              <a:solidFill>
                <a:srgbClr val="F1F5F9"/>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C3580530-FC49-D7ED-94EB-BD118B6DDFF3}"/>
              </a:ext>
            </a:extLst>
          </p:cNvPr>
          <p:cNvSpPr/>
          <p:nvPr/>
        </p:nvSpPr>
        <p:spPr>
          <a:xfrm>
            <a:off x="82550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C474AE6-38B1-89F9-90B7-6DDEF2005980}"/>
              </a:ext>
            </a:extLst>
          </p:cNvPr>
          <p:cNvSpPr txBox="1"/>
          <p:nvPr/>
        </p:nvSpPr>
        <p:spPr>
          <a:xfrm>
            <a:off x="8432800" y="1117600"/>
            <a:ext cx="3073400" cy="2246769"/>
          </a:xfrm>
          <a:prstGeom prst="rect">
            <a:avLst/>
          </a:prstGeom>
          <a:noFill/>
        </p:spPr>
        <p:txBody>
          <a:bodyPr vert="horz" wrap="square" lIns="0" tIns="0" rIns="0" bIns="0" rtlCol="0">
            <a:spAutoFit/>
          </a:bodyPr>
          <a:lstStyle/>
          <a:p>
            <a:r>
              <a:rPr lang="en-US" sz="1000" b="1">
                <a:solidFill>
                  <a:srgbClr val="A855F7"/>
                </a:solidFill>
                <a:latin typeface="Segoe UI" panose="020B0502040204020203" pitchFamily="34" charset="0"/>
              </a:rPr>
              <a:t>PILLAR 3: DEADLOCK &amp; RECOVERY LAB
</a:t>
            </a:r>
            <a:r>
              <a:rPr lang="en-US" sz="850" b="1" i="1">
                <a:solidFill>
                  <a:srgbClr val="94A3B8"/>
                </a:solidFill>
                <a:latin typeface="Segoe UI" panose="020B0502040204020203" pitchFamily="34" charset="0"/>
              </a:rPr>
              <a:t>Tab 3: Real-Time RAG &amp; Banker's Algorithm
</a:t>
            </a:r>
            <a:r>
              <a:rPr lang="en-US" sz="860" b="1" i="1">
                <a:solidFill>
                  <a:srgbClr val="F1F5F9"/>
                </a:solidFill>
                <a:latin typeface="Segoe UI" panose="020B0502040204020203" pitchFamily="34" charset="0"/>
              </a:rPr>
              <a:t>• Animated SVG Resource Allocation Graph: Process circles and Resource squares.
• Directed edges: Allocation (R-&gt;P, solid cyan) and Request (P-&gt;R, dashed amber).
• Automated circular wait detection with pulsating red warning alert.
• Step-by-step victim preemption: reclaims resources and unblocks starved processes.
• Full Banker's Algorithm suite: Allocation, Max, Need (M-A), and Available vectors with 9 Web Audio cues.</a:t>
            </a:r>
            <a:endParaRPr lang="en-IN" sz="860" b="1" i="1">
              <a:solidFill>
                <a:srgbClr val="F1F5F9"/>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D0FD2F4D-14E6-8DF5-E2C7-EBD70F946BB7}"/>
              </a:ext>
            </a:extLst>
          </p:cNvPr>
          <p:cNvSpPr/>
          <p:nvPr/>
        </p:nvSpPr>
        <p:spPr>
          <a:xfrm>
            <a:off x="508000" y="5359400"/>
            <a:ext cx="11176000" cy="914400"/>
          </a:xfrm>
          <a:prstGeom prst="roundRect">
            <a:avLst/>
          </a:prstGeom>
          <a:solidFill>
            <a:srgbClr val="172438"/>
          </a:solidFill>
          <a:ln w="1524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408A808-A13A-DAB8-B6F4-4E84B744AF9B}"/>
              </a:ext>
            </a:extLst>
          </p:cNvPr>
          <p:cNvSpPr txBox="1"/>
          <p:nvPr/>
        </p:nvSpPr>
        <p:spPr>
          <a:xfrm>
            <a:off x="698500" y="5461000"/>
            <a:ext cx="10795000" cy="438582"/>
          </a:xfrm>
          <a:prstGeom prst="rect">
            <a:avLst/>
          </a:prstGeom>
          <a:noFill/>
        </p:spPr>
        <p:txBody>
          <a:bodyPr vert="horz" wrap="square" lIns="0" tIns="0" rIns="0" bIns="0" rtlCol="0">
            <a:spAutoFit/>
          </a:bodyPr>
          <a:lstStyle/>
          <a:p>
            <a:r>
              <a:rPr lang="en-US" sz="950" b="1">
                <a:solidFill>
                  <a:srgbClr val="22D3EE"/>
                </a:solidFill>
                <a:latin typeface="Segoe UI" panose="020B0502040204020203" pitchFamily="34" charset="0"/>
              </a:rPr>
              <a:t>KEY ARCHITECTURAL ADVANTAGE: ZERO THIRD-PARTY RUNTIME DEPENDENCIES
</a:t>
            </a:r>
            <a:r>
              <a:rPr lang="en-US" sz="920" b="1">
                <a:solidFill>
                  <a:srgbClr val="F1F5F9"/>
                </a:solidFill>
                <a:latin typeface="Segoe UI" panose="020B0502040204020203" pitchFamily="34" charset="0"/>
              </a:rPr>
              <a:t>HealOS requires no Node.js runtime, external JavaScript bundlers, npm packages, or third-party web frameworks (no React, Vue, Flask, or Django). The entire application runs natively on Python's built-in http.server with standard HTML5, SVG DOM graphics, and the Web Audio API—guaranteeing instant portable deployment.</a:t>
            </a:r>
            <a:endParaRPr lang="en-IN" sz="920" b="1">
              <a:solidFill>
                <a:srgbClr val="F1F5F9"/>
              </a:solidFill>
              <a:latin typeface="Segoe UI" panose="020B0502040204020203" pitchFamily="34" charset="0"/>
            </a:endParaRPr>
          </a:p>
        </p:txBody>
      </p:sp>
    </p:spTree>
    <p:extLst>
      <p:ext uri="{BB962C8B-B14F-4D97-AF65-F5344CB8AC3E}">
        <p14:creationId xmlns:p14="http://schemas.microsoft.com/office/powerpoint/2010/main" val="1215019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8291056-2DBB-BB0F-20BF-EE25B9737B41}"/>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06 | LITERATURE SURVEY</a:t>
            </a:r>
          </a:p>
        </p:txBody>
      </p:sp>
      <p:sp>
        <p:nvSpPr>
          <p:cNvPr id="3" name="TextBox 2">
            <a:extLst>
              <a:ext uri="{FF2B5EF4-FFF2-40B4-BE49-F238E27FC236}">
                <a16:creationId xmlns:a16="http://schemas.microsoft.com/office/drawing/2014/main" id="{BF77FEBC-D299-5C1B-31F3-253D47B11574}"/>
              </a:ext>
            </a:extLst>
          </p:cNvPr>
          <p:cNvSpPr txBox="1"/>
          <p:nvPr/>
        </p:nvSpPr>
        <p:spPr>
          <a:xfrm>
            <a:off x="2667000" y="127000"/>
            <a:ext cx="9017000" cy="430887"/>
          </a:xfrm>
          <a:prstGeom prst="rect">
            <a:avLst/>
          </a:prstGeom>
          <a:noFill/>
        </p:spPr>
        <p:txBody>
          <a:bodyPr vert="horz" wrap="square" lIns="0" tIns="0" rIns="0" bIns="0" rtlCol="0">
            <a:spAutoFit/>
          </a:bodyPr>
          <a:lstStyle/>
          <a:p>
            <a:r>
              <a:rPr lang="en-US" b="1">
                <a:solidFill>
                  <a:srgbClr val="F1F5F9"/>
                </a:solidFill>
                <a:latin typeface="Segoe UI" panose="020B0502040204020203" pitchFamily="34" charset="0"/>
              </a:rPr>
              <a:t>State of the Art &amp; Theoretical Foundations
</a:t>
            </a:r>
            <a:r>
              <a:rPr lang="en-US" sz="1000">
                <a:solidFill>
                  <a:srgbClr val="94A3B8"/>
                </a:solidFill>
                <a:latin typeface="Segoe UI" panose="020B0502040204020203" pitchFamily="34" charset="0"/>
              </a:rPr>
              <a:t>Comparative analysis of prior instructional operating systems and theoretical formalisms.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25B34F06-79EE-D893-09CE-F6CD1401DE74}"/>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2039C82-8294-479E-0280-2C91CFDC50D0}"/>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98F70F5-053C-76CA-682F-E0BE3FD636B7}"/>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FC6D65FE-81B4-E20E-EDE4-E02C72AFBE7E}"/>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6 of 13</a:t>
            </a:r>
          </a:p>
        </p:txBody>
      </p:sp>
      <p:graphicFrame>
        <p:nvGraphicFramePr>
          <p:cNvPr id="8" name="Table 7">
            <a:extLst>
              <a:ext uri="{FF2B5EF4-FFF2-40B4-BE49-F238E27FC236}">
                <a16:creationId xmlns:a16="http://schemas.microsoft.com/office/drawing/2014/main" id="{430E54C9-2C59-CD49-E064-708BFE0BF9A9}"/>
              </a:ext>
            </a:extLst>
          </p:cNvPr>
          <p:cNvGraphicFramePr>
            <a:graphicFrameLocks noGrp="1"/>
          </p:cNvGraphicFramePr>
          <p:nvPr>
            <p:extLst>
              <p:ext uri="{D42A27DB-BD31-4B8C-83A1-F6EECF244321}">
                <p14:modId xmlns:p14="http://schemas.microsoft.com/office/powerpoint/2010/main" val="1602748103"/>
              </p:ext>
            </p:extLst>
          </p:nvPr>
        </p:nvGraphicFramePr>
        <p:xfrm>
          <a:off x="508000" y="952500"/>
          <a:ext cx="11176000" cy="2921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24197045"/>
                    </a:ext>
                  </a:extLst>
                </a:gridCol>
                <a:gridCol w="2413000">
                  <a:extLst>
                    <a:ext uri="{9D8B030D-6E8A-4147-A177-3AD203B41FA5}">
                      <a16:colId xmlns:a16="http://schemas.microsoft.com/office/drawing/2014/main" val="1631479701"/>
                    </a:ext>
                  </a:extLst>
                </a:gridCol>
                <a:gridCol w="3302000">
                  <a:extLst>
                    <a:ext uri="{9D8B030D-6E8A-4147-A177-3AD203B41FA5}">
                      <a16:colId xmlns:a16="http://schemas.microsoft.com/office/drawing/2014/main" val="1435180086"/>
                    </a:ext>
                  </a:extLst>
                </a:gridCol>
                <a:gridCol w="3429000">
                  <a:extLst>
                    <a:ext uri="{9D8B030D-6E8A-4147-A177-3AD203B41FA5}">
                      <a16:colId xmlns:a16="http://schemas.microsoft.com/office/drawing/2014/main" val="2471763580"/>
                    </a:ext>
                  </a:extLst>
                </a:gridCol>
              </a:tblGrid>
              <a:tr h="486833">
                <a:tc>
                  <a:txBody>
                    <a:bodyPr/>
                    <a:lstStyle/>
                    <a:p>
                      <a:r>
                        <a:rPr lang="en-IN" sz="950" b="1">
                          <a:solidFill>
                            <a:srgbClr val="22D3EE"/>
                          </a:solidFill>
                          <a:latin typeface="Segoe UI" panose="020B0502040204020203" pitchFamily="34" charset="0"/>
                        </a:rPr>
                        <a:t>System / Prior Work</a:t>
                      </a:r>
                    </a:p>
                  </a:txBody>
                  <a:tcPr marL="38100" marR="38100" marT="38100" marB="38100">
                    <a:solidFill>
                      <a:srgbClr val="172438"/>
                    </a:solidFill>
                  </a:tcPr>
                </a:tc>
                <a:tc>
                  <a:txBody>
                    <a:bodyPr/>
                    <a:lstStyle/>
                    <a:p>
                      <a:r>
                        <a:rPr lang="en-IN" sz="950" b="1">
                          <a:solidFill>
                            <a:srgbClr val="22D3EE"/>
                          </a:solidFill>
                          <a:latin typeface="Segoe UI" panose="020B0502040204020203" pitchFamily="34" charset="0"/>
                        </a:rPr>
                        <a:t>Core Focus Domain</a:t>
                      </a:r>
                    </a:p>
                  </a:txBody>
                  <a:tcPr marL="38100" marR="38100" marT="38100" marB="38100">
                    <a:solidFill>
                      <a:srgbClr val="172438"/>
                    </a:solidFill>
                  </a:tcPr>
                </a:tc>
                <a:tc>
                  <a:txBody>
                    <a:bodyPr/>
                    <a:lstStyle/>
                    <a:p>
                      <a:r>
                        <a:rPr lang="en-IN" sz="950" b="1">
                          <a:solidFill>
                            <a:srgbClr val="22D3EE"/>
                          </a:solidFill>
                          <a:latin typeface="Segoe UI" panose="020B0502040204020203" pitchFamily="34" charset="0"/>
                        </a:rPr>
                        <a:t>Architectural Limitations</a:t>
                      </a:r>
                    </a:p>
                  </a:txBody>
                  <a:tcPr marL="38100" marR="38100" marT="38100" marB="38100">
                    <a:solidFill>
                      <a:srgbClr val="172438"/>
                    </a:solidFill>
                  </a:tcPr>
                </a:tc>
                <a:tc>
                  <a:txBody>
                    <a:bodyPr/>
                    <a:lstStyle/>
                    <a:p>
                      <a:r>
                        <a:rPr lang="en-IN" sz="950" b="1">
                          <a:solidFill>
                            <a:srgbClr val="22D3EE"/>
                          </a:solidFill>
                          <a:latin typeface="Segoe UI" panose="020B0502040204020203" pitchFamily="34" charset="0"/>
                        </a:rPr>
                        <a:t>HealOS Advancement</a:t>
                      </a:r>
                    </a:p>
                  </a:txBody>
                  <a:tcPr marL="38100" marR="38100" marT="38100" marB="38100">
                    <a:solidFill>
                      <a:srgbClr val="172438"/>
                    </a:solidFill>
                  </a:tcPr>
                </a:tc>
                <a:extLst>
                  <a:ext uri="{0D108BD9-81ED-4DB2-BD59-A6C34878D82A}">
                    <a16:rowId xmlns:a16="http://schemas.microsoft.com/office/drawing/2014/main" val="515361130"/>
                  </a:ext>
                </a:extLst>
              </a:tr>
              <a:tr h="486833">
                <a:tc>
                  <a:txBody>
                    <a:bodyPr/>
                    <a:lstStyle/>
                    <a:p>
                      <a:r>
                        <a:rPr lang="da-DK" sz="850" b="1">
                          <a:solidFill>
                            <a:srgbClr val="F1F5F9"/>
                          </a:solidFill>
                          <a:latin typeface="Segoe UI" panose="020B0502040204020203" pitchFamily="34" charset="0"/>
                        </a:rPr>
                        <a:t>Nachos (Anderson et al., 1993)</a:t>
                      </a:r>
                      <a:endParaRPr lang="en-IN" sz="850" b="1">
                        <a:solidFill>
                          <a:srgbClr val="F1F5F9"/>
                        </a:solidFill>
                        <a:latin typeface="Segoe UI" panose="020B0502040204020203" pitchFamily="34" charset="0"/>
                      </a:endParaRPr>
                    </a:p>
                  </a:txBody>
                  <a:tcPr marL="38100" marR="38100" marT="38100" marB="38100">
                    <a:solidFill>
                      <a:srgbClr val="111C2E"/>
                    </a:solidFill>
                  </a:tcPr>
                </a:tc>
                <a:tc>
                  <a:txBody>
                    <a:bodyPr/>
                    <a:lstStyle/>
                    <a:p>
                      <a:r>
                        <a:rPr lang="en-IN" sz="850">
                          <a:solidFill>
                            <a:srgbClr val="F1F5F9"/>
                          </a:solidFill>
                          <a:latin typeface="Segoe UI" panose="020B0502040204020203" pitchFamily="34" charset="0"/>
                        </a:rPr>
                        <a:t>Educational MIPS kernel simulation</a:t>
                      </a:r>
                    </a:p>
                  </a:txBody>
                  <a:tcPr marL="38100" marR="38100" marT="38100" marB="38100">
                    <a:solidFill>
                      <a:srgbClr val="111C2E"/>
                    </a:solidFill>
                  </a:tcPr>
                </a:tc>
                <a:tc>
                  <a:txBody>
                    <a:bodyPr/>
                    <a:lstStyle/>
                    <a:p>
                      <a:r>
                        <a:rPr lang="en-US" sz="850">
                          <a:solidFill>
                            <a:srgbClr val="F1F5F9"/>
                          </a:solidFill>
                          <a:latin typeface="Segoe UI" panose="020B0502040204020203" pitchFamily="34" charset="0"/>
                        </a:rPr>
                        <a:t>Complex C++ codebase, steep learning curve, no live web-based visualizer.</a:t>
                      </a:r>
                      <a:endParaRPr lang="en-IN" sz="850">
                        <a:solidFill>
                          <a:srgbClr val="F1F5F9"/>
                        </a:solidFill>
                        <a:latin typeface="Segoe UI" panose="020B0502040204020203" pitchFamily="34" charset="0"/>
                      </a:endParaRPr>
                    </a:p>
                  </a:txBody>
                  <a:tcPr marL="38100" marR="38100" marT="38100" marB="38100">
                    <a:solidFill>
                      <a:srgbClr val="111C2E"/>
                    </a:solidFill>
                  </a:tcPr>
                </a:tc>
                <a:tc>
                  <a:txBody>
                    <a:bodyPr/>
                    <a:lstStyle/>
                    <a:p>
                      <a:r>
                        <a:rPr lang="en-US" sz="850">
                          <a:solidFill>
                            <a:srgbClr val="F1F5F9"/>
                          </a:solidFill>
                          <a:latin typeface="Segoe UI" panose="020B0502040204020203" pitchFamily="34" charset="0"/>
                        </a:rPr>
                        <a:t>Modern browser visualizer, zero install friction, real-time process animation.</a:t>
                      </a:r>
                      <a:endParaRPr lang="en-IN" sz="850">
                        <a:solidFill>
                          <a:srgbClr val="F1F5F9"/>
                        </a:solidFill>
                        <a:latin typeface="Segoe UI" panose="020B0502040204020203" pitchFamily="34" charset="0"/>
                      </a:endParaRPr>
                    </a:p>
                  </a:txBody>
                  <a:tcPr marL="38100" marR="38100" marT="38100" marB="38100">
                    <a:solidFill>
                      <a:srgbClr val="111C2E"/>
                    </a:solidFill>
                  </a:tcPr>
                </a:tc>
                <a:extLst>
                  <a:ext uri="{0D108BD9-81ED-4DB2-BD59-A6C34878D82A}">
                    <a16:rowId xmlns:a16="http://schemas.microsoft.com/office/drawing/2014/main" val="2663710844"/>
                  </a:ext>
                </a:extLst>
              </a:tr>
              <a:tr h="486833">
                <a:tc>
                  <a:txBody>
                    <a:bodyPr/>
                    <a:lstStyle/>
                    <a:p>
                      <a:r>
                        <a:rPr lang="en-IN" sz="850" b="1">
                          <a:solidFill>
                            <a:srgbClr val="F1F5F9"/>
                          </a:solidFill>
                          <a:latin typeface="Segoe UI" panose="020B0502040204020203" pitchFamily="34" charset="0"/>
                        </a:rPr>
                        <a:t>Pintos (Stanford Univ., 2004)</a:t>
                      </a:r>
                    </a:p>
                  </a:txBody>
                  <a:tcPr marL="38100" marR="38100" marT="38100" marB="38100">
                    <a:solidFill>
                      <a:srgbClr val="1A2A40"/>
                    </a:solidFill>
                  </a:tcPr>
                </a:tc>
                <a:tc>
                  <a:txBody>
                    <a:bodyPr/>
                    <a:lstStyle/>
                    <a:p>
                      <a:r>
                        <a:rPr lang="en-IN" sz="850">
                          <a:solidFill>
                            <a:srgbClr val="F1F5F9"/>
                          </a:solidFill>
                          <a:latin typeface="Segoe UI" panose="020B0502040204020203" pitchFamily="34" charset="0"/>
                        </a:rPr>
                        <a:t>x86 instructional OS for kernel hacking</a:t>
                      </a:r>
                    </a:p>
                  </a:txBody>
                  <a:tcPr marL="38100" marR="38100" marT="38100" marB="38100">
                    <a:solidFill>
                      <a:srgbClr val="1A2A40"/>
                    </a:solidFill>
                  </a:tcPr>
                </a:tc>
                <a:tc>
                  <a:txBody>
                    <a:bodyPr/>
                    <a:lstStyle/>
                    <a:p>
                      <a:r>
                        <a:rPr lang="en-US" sz="850">
                          <a:solidFill>
                            <a:srgbClr val="F1F5F9"/>
                          </a:solidFill>
                          <a:latin typeface="Segoe UI" panose="020B0502040204020203" pitchFamily="34" charset="0"/>
                        </a:rPr>
                        <a:t>Command-line and Bochs emulation only; difficult debugging; no live telemetry.</a:t>
                      </a:r>
                      <a:endParaRPr lang="en-IN" sz="850">
                        <a:solidFill>
                          <a:srgbClr val="F1F5F9"/>
                        </a:solidFill>
                        <a:latin typeface="Segoe UI" panose="020B0502040204020203" pitchFamily="34" charset="0"/>
                      </a:endParaRPr>
                    </a:p>
                  </a:txBody>
                  <a:tcPr marL="38100" marR="38100" marT="38100" marB="38100">
                    <a:solidFill>
                      <a:srgbClr val="1A2A40"/>
                    </a:solidFill>
                  </a:tcPr>
                </a:tc>
                <a:tc>
                  <a:txBody>
                    <a:bodyPr/>
                    <a:lstStyle/>
                    <a:p>
                      <a:r>
                        <a:rPr lang="en-US" sz="850">
                          <a:solidFill>
                            <a:srgbClr val="F1F5F9"/>
                          </a:solidFill>
                          <a:latin typeface="Segoe UI" panose="020B0502040204020203" pitchFamily="34" charset="0"/>
                        </a:rPr>
                        <a:t>Unified live host telemetry with interactive discrete-event simulation studios.</a:t>
                      </a:r>
                      <a:endParaRPr lang="en-IN" sz="850">
                        <a:solidFill>
                          <a:srgbClr val="F1F5F9"/>
                        </a:solidFill>
                        <a:latin typeface="Segoe UI" panose="020B0502040204020203" pitchFamily="34" charset="0"/>
                      </a:endParaRPr>
                    </a:p>
                  </a:txBody>
                  <a:tcPr marL="38100" marR="38100" marT="38100" marB="38100">
                    <a:solidFill>
                      <a:srgbClr val="1A2A40"/>
                    </a:solidFill>
                  </a:tcPr>
                </a:tc>
                <a:extLst>
                  <a:ext uri="{0D108BD9-81ED-4DB2-BD59-A6C34878D82A}">
                    <a16:rowId xmlns:a16="http://schemas.microsoft.com/office/drawing/2014/main" val="807940888"/>
                  </a:ext>
                </a:extLst>
              </a:tr>
              <a:tr h="486833">
                <a:tc>
                  <a:txBody>
                    <a:bodyPr/>
                    <a:lstStyle/>
                    <a:p>
                      <a:r>
                        <a:rPr lang="pt-BR" sz="850" b="1">
                          <a:solidFill>
                            <a:srgbClr val="F1F5F9"/>
                          </a:solidFill>
                          <a:latin typeface="Segoe UI" panose="020B0502040204020203" pitchFamily="34" charset="0"/>
                        </a:rPr>
                        <a:t>CPU-OS Sim (Bik et al., 2012)</a:t>
                      </a:r>
                      <a:endParaRPr lang="en-IN" sz="850" b="1">
                        <a:solidFill>
                          <a:srgbClr val="F1F5F9"/>
                        </a:solidFill>
                        <a:latin typeface="Segoe UI" panose="020B0502040204020203" pitchFamily="34" charset="0"/>
                      </a:endParaRPr>
                    </a:p>
                  </a:txBody>
                  <a:tcPr marL="38100" marR="38100" marT="38100" marB="38100">
                    <a:solidFill>
                      <a:srgbClr val="111C2E"/>
                    </a:solidFill>
                  </a:tcPr>
                </a:tc>
                <a:tc>
                  <a:txBody>
                    <a:bodyPr/>
                    <a:lstStyle/>
                    <a:p>
                      <a:r>
                        <a:rPr lang="en-IN" sz="850">
                          <a:solidFill>
                            <a:srgbClr val="F1F5F9"/>
                          </a:solidFill>
                          <a:latin typeface="Segoe UI" panose="020B0502040204020203" pitchFamily="34" charset="0"/>
                        </a:rPr>
                        <a:t>Desktop CPU scheduling visualizer</a:t>
                      </a:r>
                    </a:p>
                  </a:txBody>
                  <a:tcPr marL="38100" marR="38100" marT="38100" marB="38100">
                    <a:solidFill>
                      <a:srgbClr val="111C2E"/>
                    </a:solidFill>
                  </a:tcPr>
                </a:tc>
                <a:tc>
                  <a:txBody>
                    <a:bodyPr/>
                    <a:lstStyle/>
                    <a:p>
                      <a:r>
                        <a:rPr lang="en-US" sz="850">
                          <a:solidFill>
                            <a:srgbClr val="F1F5F9"/>
                          </a:solidFill>
                          <a:latin typeface="Segoe UI" panose="020B0502040204020203" pitchFamily="34" charset="0"/>
                        </a:rPr>
                        <a:t>Outdated Java GUI desktop app; static timeline; lacks autonomic crash recovery.</a:t>
                      </a:r>
                      <a:endParaRPr lang="en-IN" sz="850">
                        <a:solidFill>
                          <a:srgbClr val="F1F5F9"/>
                        </a:solidFill>
                        <a:latin typeface="Segoe UI" panose="020B0502040204020203" pitchFamily="34" charset="0"/>
                      </a:endParaRPr>
                    </a:p>
                  </a:txBody>
                  <a:tcPr marL="38100" marR="38100" marT="38100" marB="38100">
                    <a:solidFill>
                      <a:srgbClr val="111C2E"/>
                    </a:solidFill>
                  </a:tcPr>
                </a:tc>
                <a:tc>
                  <a:txBody>
                    <a:bodyPr/>
                    <a:lstStyle/>
                    <a:p>
                      <a:r>
                        <a:rPr lang="en-IN" sz="850">
                          <a:solidFill>
                            <a:srgbClr val="F1F5F9"/>
                          </a:solidFill>
                          <a:latin typeface="Segoe UI" panose="020B0502040204020203" pitchFamily="34" charset="0"/>
                        </a:rPr>
                        <a:t>Modern responsive dark UI, Web Audio cues, dynamic Gantt cursor, self-healing.</a:t>
                      </a:r>
                    </a:p>
                  </a:txBody>
                  <a:tcPr marL="38100" marR="38100" marT="38100" marB="38100">
                    <a:solidFill>
                      <a:srgbClr val="111C2E"/>
                    </a:solidFill>
                  </a:tcPr>
                </a:tc>
                <a:extLst>
                  <a:ext uri="{0D108BD9-81ED-4DB2-BD59-A6C34878D82A}">
                    <a16:rowId xmlns:a16="http://schemas.microsoft.com/office/drawing/2014/main" val="2018918099"/>
                  </a:ext>
                </a:extLst>
              </a:tr>
              <a:tr h="486833">
                <a:tc>
                  <a:txBody>
                    <a:bodyPr/>
                    <a:lstStyle/>
                    <a:p>
                      <a:r>
                        <a:rPr lang="en-IN" sz="850" b="1">
                          <a:solidFill>
                            <a:srgbClr val="F1F5F9"/>
                          </a:solidFill>
                          <a:latin typeface="Segoe UI" panose="020B0502040204020203" pitchFamily="34" charset="0"/>
                        </a:rPr>
                        <a:t>Linux CFS (Molnar, 2007)</a:t>
                      </a:r>
                    </a:p>
                  </a:txBody>
                  <a:tcPr marL="38100" marR="38100" marT="38100" marB="38100">
                    <a:solidFill>
                      <a:srgbClr val="1A2A40"/>
                    </a:solidFill>
                  </a:tcPr>
                </a:tc>
                <a:tc>
                  <a:txBody>
                    <a:bodyPr/>
                    <a:lstStyle/>
                    <a:p>
                      <a:r>
                        <a:rPr lang="en-US" sz="850">
                          <a:solidFill>
                            <a:srgbClr val="F1F5F9"/>
                          </a:solidFill>
                          <a:latin typeface="Segoe UI" panose="020B0502040204020203" pitchFamily="34" charset="0"/>
                        </a:rPr>
                        <a:t>Production Linux Completely Fair Scheduler</a:t>
                      </a:r>
                      <a:endParaRPr lang="en-IN" sz="850">
                        <a:solidFill>
                          <a:srgbClr val="F1F5F9"/>
                        </a:solidFill>
                        <a:latin typeface="Segoe UI" panose="020B0502040204020203" pitchFamily="34" charset="0"/>
                      </a:endParaRPr>
                    </a:p>
                  </a:txBody>
                  <a:tcPr marL="38100" marR="38100" marT="38100" marB="38100">
                    <a:solidFill>
                      <a:srgbClr val="1A2A40"/>
                    </a:solidFill>
                  </a:tcPr>
                </a:tc>
                <a:tc>
                  <a:txBody>
                    <a:bodyPr/>
                    <a:lstStyle/>
                    <a:p>
                      <a:r>
                        <a:rPr lang="en-US" sz="850">
                          <a:solidFill>
                            <a:srgbClr val="F1F5F9"/>
                          </a:solidFill>
                          <a:latin typeface="Segoe UI" panose="020B0502040204020203" pitchFamily="34" charset="0"/>
                        </a:rPr>
                        <a:t>Black-box kernel implementation; microsecond execution with zero visual feedback.</a:t>
                      </a:r>
                      <a:endParaRPr lang="en-IN" sz="850">
                        <a:solidFill>
                          <a:srgbClr val="F1F5F9"/>
                        </a:solidFill>
                        <a:latin typeface="Segoe UI" panose="020B0502040204020203" pitchFamily="34" charset="0"/>
                      </a:endParaRPr>
                    </a:p>
                  </a:txBody>
                  <a:tcPr marL="38100" marR="38100" marT="38100" marB="38100">
                    <a:solidFill>
                      <a:srgbClr val="1A2A40"/>
                    </a:solidFill>
                  </a:tcPr>
                </a:tc>
                <a:tc>
                  <a:txBody>
                    <a:bodyPr/>
                    <a:lstStyle/>
                    <a:p>
                      <a:r>
                        <a:rPr lang="en-US" sz="850">
                          <a:solidFill>
                            <a:srgbClr val="F1F5F9"/>
                          </a:solidFill>
                          <a:latin typeface="Segoe UI" panose="020B0502040204020203" pitchFamily="34" charset="0"/>
                        </a:rPr>
                        <a:t>Visual step-by-step comparative simulation of FCFS, SJF, RR, and Priority policies.</a:t>
                      </a:r>
                      <a:endParaRPr lang="en-IN" sz="850">
                        <a:solidFill>
                          <a:srgbClr val="F1F5F9"/>
                        </a:solidFill>
                        <a:latin typeface="Segoe UI" panose="020B0502040204020203" pitchFamily="34" charset="0"/>
                      </a:endParaRPr>
                    </a:p>
                  </a:txBody>
                  <a:tcPr marL="38100" marR="38100" marT="38100" marB="38100">
                    <a:solidFill>
                      <a:srgbClr val="1A2A40"/>
                    </a:solidFill>
                  </a:tcPr>
                </a:tc>
                <a:extLst>
                  <a:ext uri="{0D108BD9-81ED-4DB2-BD59-A6C34878D82A}">
                    <a16:rowId xmlns:a16="http://schemas.microsoft.com/office/drawing/2014/main" val="1134846936"/>
                  </a:ext>
                </a:extLst>
              </a:tr>
              <a:tr h="486833">
                <a:tc>
                  <a:txBody>
                    <a:bodyPr/>
                    <a:lstStyle/>
                    <a:p>
                      <a:r>
                        <a:rPr lang="en-IN" sz="850" b="1">
                          <a:solidFill>
                            <a:srgbClr val="22C55E"/>
                          </a:solidFill>
                          <a:latin typeface="Segoe UI" panose="020B0502040204020203" pitchFamily="34" charset="0"/>
                        </a:rPr>
                        <a:t>HealOS 2.0 (Proposed Work)</a:t>
                      </a:r>
                    </a:p>
                  </a:txBody>
                  <a:tcPr marL="38100" marR="38100" marT="38100" marB="38100">
                    <a:solidFill>
                      <a:srgbClr val="111C2E"/>
                    </a:solidFill>
                  </a:tcPr>
                </a:tc>
                <a:tc>
                  <a:txBody>
                    <a:bodyPr/>
                    <a:lstStyle/>
                    <a:p>
                      <a:r>
                        <a:rPr lang="en-IN" sz="850">
                          <a:solidFill>
                            <a:srgbClr val="F1F5F9"/>
                          </a:solidFill>
                          <a:latin typeface="Segoe UI" panose="020B0502040204020203" pitchFamily="34" charset="0"/>
                        </a:rPr>
                        <a:t>Unified Telemetry, Scheduling &amp; Deadlock</a:t>
                      </a:r>
                    </a:p>
                  </a:txBody>
                  <a:tcPr marL="38100" marR="38100" marT="38100" marB="38100">
                    <a:solidFill>
                      <a:srgbClr val="111C2E"/>
                    </a:solidFill>
                  </a:tcPr>
                </a:tc>
                <a:tc>
                  <a:txBody>
                    <a:bodyPr/>
                    <a:lstStyle/>
                    <a:p>
                      <a:r>
                        <a:rPr lang="en-US" sz="850">
                          <a:solidFill>
                            <a:srgbClr val="F1F5F9"/>
                          </a:solidFill>
                          <a:latin typeface="Segoe UI" panose="020B0502040204020203" pitchFamily="34" charset="0"/>
                        </a:rPr>
                        <a:t>Prior works decouple monitoring from algorithm simulation and fault tolerance.</a:t>
                      </a:r>
                      <a:endParaRPr lang="en-IN" sz="850">
                        <a:solidFill>
                          <a:srgbClr val="F1F5F9"/>
                        </a:solidFill>
                        <a:latin typeface="Segoe UI" panose="020B0502040204020203" pitchFamily="34" charset="0"/>
                      </a:endParaRPr>
                    </a:p>
                  </a:txBody>
                  <a:tcPr marL="38100" marR="38100" marT="38100" marB="38100">
                    <a:solidFill>
                      <a:srgbClr val="111C2E"/>
                    </a:solidFill>
                  </a:tcPr>
                </a:tc>
                <a:tc>
                  <a:txBody>
                    <a:bodyPr/>
                    <a:lstStyle/>
                    <a:p>
                      <a:r>
                        <a:rPr lang="en-US" sz="850" b="1">
                          <a:solidFill>
                            <a:srgbClr val="22D3EE"/>
                          </a:solidFill>
                          <a:latin typeface="Segoe UI" panose="020B0502040204020203" pitchFamily="34" charset="0"/>
                        </a:rPr>
                        <a:t>Dual-mode architecture combining live host telemetry, animated CPU studio, and RAG lab.</a:t>
                      </a:r>
                      <a:endParaRPr lang="en-IN" sz="850" b="1">
                        <a:solidFill>
                          <a:srgbClr val="22D3EE"/>
                        </a:solidFill>
                        <a:latin typeface="Segoe UI" panose="020B0502040204020203" pitchFamily="34" charset="0"/>
                      </a:endParaRPr>
                    </a:p>
                  </a:txBody>
                  <a:tcPr marL="38100" marR="38100" marT="38100" marB="38100">
                    <a:solidFill>
                      <a:srgbClr val="111C2E"/>
                    </a:solidFill>
                  </a:tcPr>
                </a:tc>
                <a:extLst>
                  <a:ext uri="{0D108BD9-81ED-4DB2-BD59-A6C34878D82A}">
                    <a16:rowId xmlns:a16="http://schemas.microsoft.com/office/drawing/2014/main" val="1980668131"/>
                  </a:ext>
                </a:extLst>
              </a:tr>
            </a:tbl>
          </a:graphicData>
        </a:graphic>
      </p:graphicFrame>
      <p:sp>
        <p:nvSpPr>
          <p:cNvPr id="9" name="Rectangle: Rounded Corners 8">
            <a:extLst>
              <a:ext uri="{FF2B5EF4-FFF2-40B4-BE49-F238E27FC236}">
                <a16:creationId xmlns:a16="http://schemas.microsoft.com/office/drawing/2014/main" id="{F48CA79D-7149-F51B-3B73-A12A66DF3861}"/>
              </a:ext>
            </a:extLst>
          </p:cNvPr>
          <p:cNvSpPr/>
          <p:nvPr/>
        </p:nvSpPr>
        <p:spPr>
          <a:xfrm>
            <a:off x="508000" y="4064000"/>
            <a:ext cx="3429000" cy="22098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056C8F1-479B-1330-2584-2A41F0DAF04A}"/>
              </a:ext>
            </a:extLst>
          </p:cNvPr>
          <p:cNvSpPr txBox="1"/>
          <p:nvPr/>
        </p:nvSpPr>
        <p:spPr>
          <a:xfrm>
            <a:off x="660400" y="4191000"/>
            <a:ext cx="3124200" cy="692497"/>
          </a:xfrm>
          <a:prstGeom prst="rect">
            <a:avLst/>
          </a:prstGeom>
          <a:noFill/>
        </p:spPr>
        <p:txBody>
          <a:bodyPr vert="horz" wrap="square" lIns="0" tIns="0" rIns="0" bIns="0" rtlCol="0">
            <a:spAutoFit/>
          </a:bodyPr>
          <a:lstStyle/>
          <a:p>
            <a:r>
              <a:rPr lang="en-IN" sz="900" b="1">
                <a:solidFill>
                  <a:srgbClr val="22D3EE"/>
                </a:solidFill>
                <a:latin typeface="Segoe UI" panose="020B0502040204020203" pitchFamily="34" charset="0"/>
              </a:rPr>
              <a:t>DIJKSTRA'S BANKER'S ALGORITHM (EWD123, 1965)
</a:t>
            </a:r>
            <a:r>
              <a:rPr lang="en-US" sz="850" b="1">
                <a:solidFill>
                  <a:srgbClr val="94A3B8"/>
                </a:solidFill>
                <a:latin typeface="Segoe UI" panose="020B0502040204020203" pitchFamily="34" charset="0"/>
              </a:rPr>
              <a:t>Formalized deadlock avoidance by evaluating resource safety vectors. Ensures system remains in a safe state before granting requests: Need &lt;= Available.</a:t>
            </a:r>
            <a:endParaRPr lang="en-IN" sz="850" b="1">
              <a:solidFill>
                <a:srgbClr val="94A3B8"/>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06BD7D50-5129-5B10-744B-93415CD329D2}"/>
              </a:ext>
            </a:extLst>
          </p:cNvPr>
          <p:cNvSpPr/>
          <p:nvPr/>
        </p:nvSpPr>
        <p:spPr>
          <a:xfrm>
            <a:off x="4381500" y="4064000"/>
            <a:ext cx="3429000" cy="22098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A5090AA1-EF43-E4F9-3757-7098F5CD7E2F}"/>
              </a:ext>
            </a:extLst>
          </p:cNvPr>
          <p:cNvSpPr txBox="1"/>
          <p:nvPr/>
        </p:nvSpPr>
        <p:spPr>
          <a:xfrm>
            <a:off x="4533900" y="4191000"/>
            <a:ext cx="3124200" cy="669414"/>
          </a:xfrm>
          <a:prstGeom prst="rect">
            <a:avLst/>
          </a:prstGeom>
          <a:noFill/>
        </p:spPr>
        <p:txBody>
          <a:bodyPr vert="horz" wrap="square" lIns="0" tIns="0" rIns="0" bIns="0" rtlCol="0">
            <a:spAutoFit/>
          </a:bodyPr>
          <a:lstStyle/>
          <a:p>
            <a:r>
              <a:rPr lang="en-US" sz="900" b="1">
                <a:solidFill>
                  <a:srgbClr val="F59E0B"/>
                </a:solidFill>
                <a:latin typeface="Segoe UI" panose="020B0502040204020203" pitchFamily="34" charset="0"/>
              </a:rPr>
              <a:t>COFFMAN DEADLOCK CONDITIONS (CSUR, 1971)
</a:t>
            </a:r>
            <a:r>
              <a:rPr lang="en-US" sz="850" b="1">
                <a:solidFill>
                  <a:srgbClr val="94A3B8"/>
                </a:solidFill>
                <a:latin typeface="Segoe UI" panose="020B0502040204020203" pitchFamily="34" charset="0"/>
              </a:rPr>
              <a:t>Established the 4 necessary conditions for deadlock: Mutual Exclusion, Hold &amp; Wait, No Preemption, and Circular Wait. Breaking circular wait via preemption resolves deadlock.</a:t>
            </a:r>
            <a:endParaRPr lang="en-IN" sz="850" b="1">
              <a:solidFill>
                <a:srgbClr val="94A3B8"/>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D522E66F-4309-34C3-C35A-88755C53DC53}"/>
              </a:ext>
            </a:extLst>
          </p:cNvPr>
          <p:cNvSpPr/>
          <p:nvPr/>
        </p:nvSpPr>
        <p:spPr>
          <a:xfrm>
            <a:off x="8255000" y="4064000"/>
            <a:ext cx="3429000" cy="22098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6389FEE-836B-A835-094F-E05760876583}"/>
              </a:ext>
            </a:extLst>
          </p:cNvPr>
          <p:cNvSpPr txBox="1"/>
          <p:nvPr/>
        </p:nvSpPr>
        <p:spPr>
          <a:xfrm>
            <a:off x="8407400" y="4191000"/>
            <a:ext cx="3124200" cy="669414"/>
          </a:xfrm>
          <a:prstGeom prst="rect">
            <a:avLst/>
          </a:prstGeom>
          <a:noFill/>
        </p:spPr>
        <p:txBody>
          <a:bodyPr vert="horz" wrap="square" lIns="0" tIns="0" rIns="0" bIns="0" rtlCol="0">
            <a:spAutoFit/>
          </a:bodyPr>
          <a:lstStyle/>
          <a:p>
            <a:r>
              <a:rPr lang="en-US" sz="900" b="1">
                <a:solidFill>
                  <a:srgbClr val="22C55E"/>
                </a:solidFill>
                <a:latin typeface="Segoe UI" panose="020B0502040204020203" pitchFamily="34" charset="0"/>
              </a:rPr>
              <a:t>AUTONOMIC COMPUTING (KEPHART &amp; CHESS, 2003)
</a:t>
            </a:r>
            <a:r>
              <a:rPr lang="en-US" sz="850" b="1">
                <a:solidFill>
                  <a:srgbClr val="94A3B8"/>
                </a:solidFill>
                <a:latin typeface="Segoe UI" panose="020B0502040204020203" pitchFamily="34" charset="0"/>
              </a:rPr>
              <a:t>Formalized self-managing closed-loop computing systems: MAPE-K (Monitor, Analyze, Plan, Execute, Knowledge). Implemented in HealOS via supervisor crash recovery.</a:t>
            </a:r>
            <a:endParaRPr lang="en-IN" sz="850" b="1">
              <a:solidFill>
                <a:srgbClr val="94A3B8"/>
              </a:solidFill>
              <a:latin typeface="Segoe UI" panose="020B0502040204020203" pitchFamily="34" charset="0"/>
            </a:endParaRPr>
          </a:p>
        </p:txBody>
      </p:sp>
    </p:spTree>
    <p:extLst>
      <p:ext uri="{BB962C8B-B14F-4D97-AF65-F5344CB8AC3E}">
        <p14:creationId xmlns:p14="http://schemas.microsoft.com/office/powerpoint/2010/main" val="1204617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B8E253B-3C7D-D46E-0546-31D26DCC0380}"/>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07 | SYSTEM ARCHITECTURE</a:t>
            </a:r>
          </a:p>
        </p:txBody>
      </p:sp>
      <p:sp>
        <p:nvSpPr>
          <p:cNvPr id="3" name="TextBox 2">
            <a:extLst>
              <a:ext uri="{FF2B5EF4-FFF2-40B4-BE49-F238E27FC236}">
                <a16:creationId xmlns:a16="http://schemas.microsoft.com/office/drawing/2014/main" id="{14B7F0E3-FF56-62EA-22B0-F7C1F5B61256}"/>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End-to-End Component Hierarchy
</a:t>
            </a:r>
            <a:r>
              <a:rPr lang="en-US" sz="1000">
                <a:solidFill>
                  <a:srgbClr val="94A3B8"/>
                </a:solidFill>
                <a:latin typeface="Segoe UI" panose="020B0502040204020203" pitchFamily="34" charset="0"/>
              </a:rPr>
              <a:t>Decoupled multi-tier architecture separating presentation, dispatching, and core OS engines.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E2AB38FC-056D-1D0C-CC47-366C139FEE91}"/>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C878A69-80E9-8B16-FB69-088C48A7D08C}"/>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D4A382D-11AB-638F-3943-4C9A04849481}"/>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95F0FD40-C86E-6869-8253-A81805200607}"/>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7 of 13</a:t>
            </a:r>
          </a:p>
        </p:txBody>
      </p:sp>
      <p:sp>
        <p:nvSpPr>
          <p:cNvPr id="8" name="Rectangle: Rounded Corners 7">
            <a:extLst>
              <a:ext uri="{FF2B5EF4-FFF2-40B4-BE49-F238E27FC236}">
                <a16:creationId xmlns:a16="http://schemas.microsoft.com/office/drawing/2014/main" id="{C162FACD-293C-F16F-35B4-539C825C8B1B}"/>
              </a:ext>
            </a:extLst>
          </p:cNvPr>
          <p:cNvSpPr/>
          <p:nvPr/>
        </p:nvSpPr>
        <p:spPr>
          <a:xfrm>
            <a:off x="508000" y="952500"/>
            <a:ext cx="11176000" cy="1460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3E5A4B6-6BF8-5E1C-472A-DFBAC0C17975}"/>
              </a:ext>
            </a:extLst>
          </p:cNvPr>
          <p:cNvSpPr txBox="1"/>
          <p:nvPr/>
        </p:nvSpPr>
        <p:spPr>
          <a:xfrm>
            <a:off x="698500" y="1041400"/>
            <a:ext cx="10795000" cy="253916"/>
          </a:xfrm>
          <a:prstGeom prst="rect">
            <a:avLst/>
          </a:prstGeom>
          <a:noFill/>
        </p:spPr>
        <p:txBody>
          <a:bodyPr vert="horz" rtlCol="0">
            <a:spAutoFit/>
          </a:bodyPr>
          <a:lstStyle/>
          <a:p>
            <a:r>
              <a:rPr lang="fr-FR" sz="1050" b="1">
                <a:solidFill>
                  <a:srgbClr val="22D3EE"/>
                </a:solidFill>
                <a:latin typeface="Segoe UI" panose="020B0502040204020203" pitchFamily="34" charset="0"/>
              </a:rPr>
              <a:t>TIER 1: CLIENT PRESENTATION LAYER (SINGLE-PAGE BROWSER CONSOLE)</a:t>
            </a:r>
            <a:endParaRPr lang="en-IN" sz="1050" b="1">
              <a:solidFill>
                <a:srgbClr val="22D3EE"/>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1C3913EB-AFCB-7D6B-6604-D3DA99088DDA}"/>
              </a:ext>
            </a:extLst>
          </p:cNvPr>
          <p:cNvSpPr/>
          <p:nvPr/>
        </p:nvSpPr>
        <p:spPr>
          <a:xfrm>
            <a:off x="698500" y="1371600"/>
            <a:ext cx="2603500" cy="9144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2F44895-299E-681F-2E0D-C86C1D894D75}"/>
              </a:ext>
            </a:extLst>
          </p:cNvPr>
          <p:cNvSpPr txBox="1"/>
          <p:nvPr/>
        </p:nvSpPr>
        <p:spPr>
          <a:xfrm>
            <a:off x="800100" y="1422400"/>
            <a:ext cx="2400300" cy="369332"/>
          </a:xfrm>
          <a:prstGeom prst="rect">
            <a:avLst/>
          </a:prstGeom>
          <a:noFill/>
        </p:spPr>
        <p:txBody>
          <a:bodyPr vert="horz" wrap="square" lIns="0" tIns="0" rIns="0" bIns="0" rtlCol="0">
            <a:spAutoFit/>
          </a:bodyPr>
          <a:lstStyle/>
          <a:p>
            <a:r>
              <a:rPr lang="en-IN" sz="900" b="1">
                <a:solidFill>
                  <a:srgbClr val="22D3EE"/>
                </a:solidFill>
                <a:latin typeface="Segoe UI" panose="020B0502040204020203" pitchFamily="34" charset="0"/>
              </a:rPr>
              <a:t>Tab 1: System Overview
</a:t>
            </a:r>
            <a:r>
              <a:rPr lang="en-US" sz="750" b="1">
                <a:solidFill>
                  <a:srgbClr val="94A3B8"/>
                </a:solidFill>
                <a:latin typeface="Segoe UI" panose="020B0502040204020203" pitchFamily="34" charset="0"/>
              </a:rPr>
              <a:t>CPU/RAM/Disk KPI Cards, SVG Sparklines, Controlled Crash Button, 10-Field PID Diff Table</a:t>
            </a:r>
            <a:endParaRPr lang="en-IN" sz="750" b="1">
              <a:solidFill>
                <a:srgbClr val="94A3B8"/>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925F1CC9-44E0-4736-B7EF-AFEF68C23A52}"/>
              </a:ext>
            </a:extLst>
          </p:cNvPr>
          <p:cNvSpPr/>
          <p:nvPr/>
        </p:nvSpPr>
        <p:spPr>
          <a:xfrm>
            <a:off x="3492500" y="1371600"/>
            <a:ext cx="2603500" cy="914400"/>
          </a:xfrm>
          <a:prstGeom prst="roundRect">
            <a:avLst/>
          </a:prstGeom>
          <a:solidFill>
            <a:srgbClr val="172438"/>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260D38E6-22A9-0FC3-5B45-756741C07CEF}"/>
              </a:ext>
            </a:extLst>
          </p:cNvPr>
          <p:cNvSpPr txBox="1"/>
          <p:nvPr/>
        </p:nvSpPr>
        <p:spPr>
          <a:xfrm>
            <a:off x="3594100" y="1422400"/>
            <a:ext cx="2400300" cy="484748"/>
          </a:xfrm>
          <a:prstGeom prst="rect">
            <a:avLst/>
          </a:prstGeom>
          <a:noFill/>
        </p:spPr>
        <p:txBody>
          <a:bodyPr vert="horz" wrap="square" lIns="0" tIns="0" rIns="0" bIns="0" rtlCol="0">
            <a:spAutoFit/>
          </a:bodyPr>
          <a:lstStyle/>
          <a:p>
            <a:r>
              <a:rPr lang="en-US" sz="900" b="1">
                <a:solidFill>
                  <a:srgbClr val="22C55E"/>
                </a:solidFill>
                <a:latin typeface="Segoe UI" panose="020B0502040204020203" pitchFamily="34" charset="0"/>
              </a:rPr>
              <a:t>Tab 2: CPU Execution Studio
</a:t>
            </a:r>
            <a:r>
              <a:rPr lang="en-US" sz="750" b="1">
                <a:solidFill>
                  <a:srgbClr val="94A3B8"/>
                </a:solidFill>
                <a:latin typeface="Segoe UI" panose="020B0502040204020203" pitchFamily="34" charset="0"/>
              </a:rPr>
              <a:t>Process Input Studio, 3-Stage Lanes (Ready/CPU/Done), Live Burst Countdown, SVG Gantt</a:t>
            </a:r>
            <a:endParaRPr lang="en-IN" sz="750" b="1">
              <a:solidFill>
                <a:srgbClr val="94A3B8"/>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807A8E81-18B5-377D-8031-2C325AE1CC92}"/>
              </a:ext>
            </a:extLst>
          </p:cNvPr>
          <p:cNvSpPr/>
          <p:nvPr/>
        </p:nvSpPr>
        <p:spPr>
          <a:xfrm>
            <a:off x="6286500" y="1371600"/>
            <a:ext cx="2603500" cy="914400"/>
          </a:xfrm>
          <a:prstGeom prst="roundRect">
            <a:avLst/>
          </a:prstGeom>
          <a:solidFill>
            <a:srgbClr val="172438"/>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540B88B6-4FAF-320D-DE7D-6E4B421A0A0E}"/>
              </a:ext>
            </a:extLst>
          </p:cNvPr>
          <p:cNvSpPr txBox="1"/>
          <p:nvPr/>
        </p:nvSpPr>
        <p:spPr>
          <a:xfrm>
            <a:off x="6388100" y="1422400"/>
            <a:ext cx="2400300" cy="369332"/>
          </a:xfrm>
          <a:prstGeom prst="rect">
            <a:avLst/>
          </a:prstGeom>
          <a:noFill/>
        </p:spPr>
        <p:txBody>
          <a:bodyPr vert="horz" wrap="square" lIns="0" tIns="0" rIns="0" bIns="0" rtlCol="0">
            <a:spAutoFit/>
          </a:bodyPr>
          <a:lstStyle/>
          <a:p>
            <a:r>
              <a:rPr lang="en-IN" sz="900" b="1">
                <a:solidFill>
                  <a:srgbClr val="F59E0B"/>
                </a:solidFill>
                <a:latin typeface="Segoe UI" panose="020B0502040204020203" pitchFamily="34" charset="0"/>
              </a:rPr>
              <a:t>Tab 3: Deadlock Lab
</a:t>
            </a:r>
            <a:r>
              <a:rPr lang="en-US" sz="750" b="1">
                <a:solidFill>
                  <a:srgbClr val="94A3B8"/>
                </a:solidFill>
                <a:latin typeface="Segoe UI" panose="020B0502040204020203" pitchFamily="34" charset="0"/>
              </a:rPr>
              <a:t>Animated SVG RAG Graph, Cycle Detector, Banker's Matrix Suite, Victim Preemption</a:t>
            </a:r>
            <a:endParaRPr lang="en-IN" sz="750" b="1">
              <a:solidFill>
                <a:srgbClr val="94A3B8"/>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D59C6B12-1078-278C-BA92-9B0A7B6568A1}"/>
              </a:ext>
            </a:extLst>
          </p:cNvPr>
          <p:cNvSpPr/>
          <p:nvPr/>
        </p:nvSpPr>
        <p:spPr>
          <a:xfrm>
            <a:off x="9080500" y="1371600"/>
            <a:ext cx="2603500" cy="914400"/>
          </a:xfrm>
          <a:prstGeom prst="roundRect">
            <a:avLst/>
          </a:prstGeom>
          <a:solidFill>
            <a:srgbClr val="172438"/>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B986D3E-7B6E-031B-9672-FECEA32CEB3E}"/>
              </a:ext>
            </a:extLst>
          </p:cNvPr>
          <p:cNvSpPr txBox="1"/>
          <p:nvPr/>
        </p:nvSpPr>
        <p:spPr>
          <a:xfrm>
            <a:off x="9182100" y="1422400"/>
            <a:ext cx="2400300" cy="369332"/>
          </a:xfrm>
          <a:prstGeom prst="rect">
            <a:avLst/>
          </a:prstGeom>
          <a:noFill/>
        </p:spPr>
        <p:txBody>
          <a:bodyPr vert="horz" wrap="square" lIns="0" tIns="0" rIns="0" bIns="0" rtlCol="0">
            <a:spAutoFit/>
          </a:bodyPr>
          <a:lstStyle/>
          <a:p>
            <a:r>
              <a:rPr lang="en-IN" sz="900" b="1">
                <a:solidFill>
                  <a:srgbClr val="A855F7"/>
                </a:solidFill>
                <a:latin typeface="Segoe UI" panose="020B0502040204020203" pitchFamily="34" charset="0"/>
              </a:rPr>
              <a:t>Web Audio Synthesizer
</a:t>
            </a:r>
            <a:r>
              <a:rPr lang="en-US" sz="750" b="1">
                <a:solidFill>
                  <a:srgbClr val="94A3B8"/>
                </a:solidFill>
                <a:latin typeface="Segoe UI" panose="020B0502040204020203" pitchFamily="34" charset="0"/>
              </a:rPr>
              <a:t>Additive Synthesis Oscillator generating 9 discrete acoustic feedback sound cues</a:t>
            </a:r>
            <a:endParaRPr lang="en-IN" sz="750" b="1">
              <a:solidFill>
                <a:srgbClr val="94A3B8"/>
              </a:solidFill>
              <a:latin typeface="Segoe UI" panose="020B0502040204020203" pitchFamily="34" charset="0"/>
            </a:endParaRPr>
          </a:p>
        </p:txBody>
      </p:sp>
      <p:sp>
        <p:nvSpPr>
          <p:cNvPr id="18" name="Rectangle 17">
            <a:extLst>
              <a:ext uri="{FF2B5EF4-FFF2-40B4-BE49-F238E27FC236}">
                <a16:creationId xmlns:a16="http://schemas.microsoft.com/office/drawing/2014/main" id="{DADA1335-99C6-0590-E744-75012B8D01C3}"/>
              </a:ext>
            </a:extLst>
          </p:cNvPr>
          <p:cNvSpPr/>
          <p:nvPr/>
        </p:nvSpPr>
        <p:spPr>
          <a:xfrm>
            <a:off x="6032500" y="2463800"/>
            <a:ext cx="127000" cy="203200"/>
          </a:xfrm>
          <a:prstGeom prst="rect">
            <a:avLst/>
          </a:prstGeom>
          <a:solidFill>
            <a:srgbClr val="22D3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858C39E7-C518-D49A-C4A8-6937912A71EB}"/>
              </a:ext>
            </a:extLst>
          </p:cNvPr>
          <p:cNvSpPr/>
          <p:nvPr/>
        </p:nvSpPr>
        <p:spPr>
          <a:xfrm>
            <a:off x="508000" y="2717800"/>
            <a:ext cx="11176000" cy="1079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8D3CF062-6AF0-FBD6-C503-353381F059A7}"/>
              </a:ext>
            </a:extLst>
          </p:cNvPr>
          <p:cNvSpPr txBox="1"/>
          <p:nvPr/>
        </p:nvSpPr>
        <p:spPr>
          <a:xfrm>
            <a:off x="698500" y="2794000"/>
            <a:ext cx="10795000" cy="253916"/>
          </a:xfrm>
          <a:prstGeom prst="rect">
            <a:avLst/>
          </a:prstGeom>
          <a:noFill/>
        </p:spPr>
        <p:txBody>
          <a:bodyPr vert="horz" rtlCol="0">
            <a:spAutoFit/>
          </a:bodyPr>
          <a:lstStyle/>
          <a:p>
            <a:r>
              <a:rPr lang="en-US" sz="1050" b="1">
                <a:solidFill>
                  <a:srgbClr val="22C55E"/>
                </a:solidFill>
                <a:latin typeface="Segoe UI" panose="020B0502040204020203" pitchFamily="34" charset="0"/>
              </a:rPr>
              <a:t>TIER 2: BACKEND REST &amp; SIMULATION DISPATCHER (main.py / dashboard/web_server.py)</a:t>
            </a:r>
            <a:endParaRPr lang="en-IN" sz="1050" b="1">
              <a:solidFill>
                <a:srgbClr val="22C55E"/>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8B518309-F003-BE04-A5D2-0D63094B27A2}"/>
              </a:ext>
            </a:extLst>
          </p:cNvPr>
          <p:cNvSpPr/>
          <p:nvPr/>
        </p:nvSpPr>
        <p:spPr>
          <a:xfrm>
            <a:off x="698500" y="3073400"/>
            <a:ext cx="2603500" cy="6096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05A67D39-FD8B-690F-1184-83492E2AC25C}"/>
              </a:ext>
            </a:extLst>
          </p:cNvPr>
          <p:cNvSpPr txBox="1"/>
          <p:nvPr/>
        </p:nvSpPr>
        <p:spPr>
          <a:xfrm>
            <a:off x="800100" y="3111500"/>
            <a:ext cx="2400300" cy="352404"/>
          </a:xfrm>
          <a:prstGeom prst="rect">
            <a:avLst/>
          </a:prstGeom>
          <a:noFill/>
        </p:spPr>
        <p:txBody>
          <a:bodyPr vert="horz" wrap="square" lIns="0" tIns="0" rIns="0" bIns="0" rtlCol="0">
            <a:spAutoFit/>
          </a:bodyPr>
          <a:lstStyle/>
          <a:p>
            <a:r>
              <a:rPr lang="en-IN" sz="850" b="1">
                <a:solidFill>
                  <a:srgbClr val="F1F5F9"/>
                </a:solidFill>
                <a:latin typeface="Segoe UI" panose="020B0502040204020203" pitchFamily="34" charset="0"/>
              </a:rPr>
              <a:t>ThreadingHTTPServer (Port 8080)
</a:t>
            </a:r>
            <a:r>
              <a:rPr lang="en-US" sz="720" b="1">
                <a:solidFill>
                  <a:srgbClr val="94A3B8"/>
                </a:solidFill>
                <a:latin typeface="Segoe UI" panose="020B0502040204020203" pitchFamily="34" charset="0"/>
              </a:rPr>
              <a:t>Standard library HTTP server handling non-blocking requests.</a:t>
            </a:r>
            <a:endParaRPr lang="en-IN" sz="720" b="1">
              <a:solidFill>
                <a:srgbClr val="94A3B8"/>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97750A59-9543-A462-EEDD-8ACE184372AC}"/>
              </a:ext>
            </a:extLst>
          </p:cNvPr>
          <p:cNvSpPr/>
          <p:nvPr/>
        </p:nvSpPr>
        <p:spPr>
          <a:xfrm>
            <a:off x="3492500" y="3073400"/>
            <a:ext cx="2603500" cy="6096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9880B3F8-4E4B-FFC3-87F9-A41443876FAA}"/>
              </a:ext>
            </a:extLst>
          </p:cNvPr>
          <p:cNvSpPr txBox="1"/>
          <p:nvPr/>
        </p:nvSpPr>
        <p:spPr>
          <a:xfrm>
            <a:off x="3594100" y="3111500"/>
            <a:ext cx="2400300" cy="352404"/>
          </a:xfrm>
          <a:prstGeom prst="rect">
            <a:avLst/>
          </a:prstGeom>
          <a:noFill/>
        </p:spPr>
        <p:txBody>
          <a:bodyPr vert="horz" wrap="square" lIns="0" tIns="0" rIns="0" bIns="0" rtlCol="0">
            <a:spAutoFit/>
          </a:bodyPr>
          <a:lstStyle/>
          <a:p>
            <a:r>
              <a:rPr lang="en-IN" sz="850" b="1">
                <a:solidFill>
                  <a:srgbClr val="F1F5F9"/>
                </a:solidFill>
                <a:latin typeface="Segoe UI" panose="020B0502040204020203" pitchFamily="34" charset="0"/>
              </a:rPr>
              <a:t>REST API Handlers
</a:t>
            </a:r>
            <a:r>
              <a:rPr lang="en-US" sz="720" b="1">
                <a:solidFill>
                  <a:srgbClr val="94A3B8"/>
                </a:solidFill>
                <a:latin typeface="Segoe UI" panose="020B0502040204020203" pitchFamily="34" charset="0"/>
              </a:rPr>
              <a:t>/api/status, /api/scheduler/simulate, /api/deadlock/state, /api/action</a:t>
            </a:r>
            <a:endParaRPr lang="en-IN" sz="720" b="1">
              <a:solidFill>
                <a:srgbClr val="94A3B8"/>
              </a:solidFill>
              <a:latin typeface="Segoe UI" panose="020B0502040204020203" pitchFamily="34" charset="0"/>
            </a:endParaRPr>
          </a:p>
        </p:txBody>
      </p:sp>
      <p:sp>
        <p:nvSpPr>
          <p:cNvPr id="25" name="Rectangle: Rounded Corners 24">
            <a:extLst>
              <a:ext uri="{FF2B5EF4-FFF2-40B4-BE49-F238E27FC236}">
                <a16:creationId xmlns:a16="http://schemas.microsoft.com/office/drawing/2014/main" id="{5002CE15-4D0E-4DF9-6ED3-4110EBC9031E}"/>
              </a:ext>
            </a:extLst>
          </p:cNvPr>
          <p:cNvSpPr/>
          <p:nvPr/>
        </p:nvSpPr>
        <p:spPr>
          <a:xfrm>
            <a:off x="6286500" y="3073400"/>
            <a:ext cx="2603500" cy="6096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B64B5044-EE32-864F-9323-1C01E7888DB1}"/>
              </a:ext>
            </a:extLst>
          </p:cNvPr>
          <p:cNvSpPr txBox="1"/>
          <p:nvPr/>
        </p:nvSpPr>
        <p:spPr>
          <a:xfrm>
            <a:off x="6388100" y="3111500"/>
            <a:ext cx="2400300" cy="352404"/>
          </a:xfrm>
          <a:prstGeom prst="rect">
            <a:avLst/>
          </a:prstGeom>
          <a:noFill/>
        </p:spPr>
        <p:txBody>
          <a:bodyPr vert="horz" wrap="square" lIns="0" tIns="0" rIns="0" bIns="0" rtlCol="0">
            <a:spAutoFit/>
          </a:bodyPr>
          <a:lstStyle/>
          <a:p>
            <a:r>
              <a:rPr lang="en-IN" sz="850" b="1">
                <a:solidFill>
                  <a:srgbClr val="F1F5F9"/>
                </a:solidFill>
                <a:latin typeface="Segoe UI" panose="020B0502040204020203" pitchFamily="34" charset="0"/>
              </a:rPr>
              <a:t>Simulation Dispatcher
</a:t>
            </a:r>
            <a:r>
              <a:rPr lang="en-US" sz="720" b="1">
                <a:solidFill>
                  <a:srgbClr val="94A3B8"/>
                </a:solidFill>
                <a:latin typeface="Segoe UI" panose="020B0502040204020203" pitchFamily="34" charset="0"/>
              </a:rPr>
              <a:t>Transforms input job matrices into discrete event timeline slices.</a:t>
            </a:r>
            <a:endParaRPr lang="en-IN" sz="720" b="1">
              <a:solidFill>
                <a:srgbClr val="94A3B8"/>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B19EC5C6-1F52-F5FC-D261-ECF9C521A2D6}"/>
              </a:ext>
            </a:extLst>
          </p:cNvPr>
          <p:cNvSpPr/>
          <p:nvPr/>
        </p:nvSpPr>
        <p:spPr>
          <a:xfrm>
            <a:off x="9080500" y="3073400"/>
            <a:ext cx="2603500" cy="609600"/>
          </a:xfrm>
          <a:prstGeom prst="roundRect">
            <a:avLst/>
          </a:prstGeom>
          <a:solidFill>
            <a:srgbClr val="172438"/>
          </a:solidFill>
          <a:ln w="1270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C4B29B0E-B6AE-190C-6112-26066D3C61BA}"/>
              </a:ext>
            </a:extLst>
          </p:cNvPr>
          <p:cNvSpPr txBox="1"/>
          <p:nvPr/>
        </p:nvSpPr>
        <p:spPr>
          <a:xfrm>
            <a:off x="9182100" y="3111500"/>
            <a:ext cx="2400300" cy="241605"/>
          </a:xfrm>
          <a:prstGeom prst="rect">
            <a:avLst/>
          </a:prstGeom>
          <a:noFill/>
        </p:spPr>
        <p:txBody>
          <a:bodyPr vert="horz" wrap="square" lIns="0" tIns="0" rIns="0" bIns="0" rtlCol="0">
            <a:spAutoFit/>
          </a:bodyPr>
          <a:lstStyle/>
          <a:p>
            <a:r>
              <a:rPr lang="en-IN" sz="850" b="1">
                <a:solidFill>
                  <a:srgbClr val="F1F5F9"/>
                </a:solidFill>
                <a:latin typeface="Segoe UI" panose="020B0502040204020203" pitchFamily="34" charset="0"/>
              </a:rPr>
              <a:t>State Synchronization
</a:t>
            </a:r>
            <a:r>
              <a:rPr lang="en-US" sz="720" b="1">
                <a:solidFill>
                  <a:srgbClr val="94A3B8"/>
                </a:solidFill>
                <a:latin typeface="Segoe UI" panose="020B0502040204020203" pitchFamily="34" charset="0"/>
              </a:rPr>
              <a:t>Maintains thread-safe in-memory state across requests.</a:t>
            </a:r>
            <a:endParaRPr lang="en-IN" sz="720" b="1">
              <a:solidFill>
                <a:srgbClr val="94A3B8"/>
              </a:solidFill>
              <a:latin typeface="Segoe UI" panose="020B0502040204020203" pitchFamily="34" charset="0"/>
            </a:endParaRPr>
          </a:p>
        </p:txBody>
      </p:sp>
      <p:sp>
        <p:nvSpPr>
          <p:cNvPr id="29" name="Rectangle 28">
            <a:extLst>
              <a:ext uri="{FF2B5EF4-FFF2-40B4-BE49-F238E27FC236}">
                <a16:creationId xmlns:a16="http://schemas.microsoft.com/office/drawing/2014/main" id="{1A685163-9744-94E5-6B81-D83217390479}"/>
              </a:ext>
            </a:extLst>
          </p:cNvPr>
          <p:cNvSpPr/>
          <p:nvPr/>
        </p:nvSpPr>
        <p:spPr>
          <a:xfrm>
            <a:off x="6032500" y="3848100"/>
            <a:ext cx="127000" cy="203200"/>
          </a:xfrm>
          <a:prstGeom prst="rect">
            <a:avLst/>
          </a:prstGeom>
          <a:solidFill>
            <a:srgbClr val="22C55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1475464C-34EF-DE18-DF43-E3EBC995DF8C}"/>
              </a:ext>
            </a:extLst>
          </p:cNvPr>
          <p:cNvSpPr/>
          <p:nvPr/>
        </p:nvSpPr>
        <p:spPr>
          <a:xfrm>
            <a:off x="508000" y="4102100"/>
            <a:ext cx="11176000" cy="21717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FC90D329-E7C2-99E3-52DB-529FBCC72BA5}"/>
              </a:ext>
            </a:extLst>
          </p:cNvPr>
          <p:cNvSpPr txBox="1"/>
          <p:nvPr/>
        </p:nvSpPr>
        <p:spPr>
          <a:xfrm>
            <a:off x="698500" y="4178300"/>
            <a:ext cx="10795000" cy="253916"/>
          </a:xfrm>
          <a:prstGeom prst="rect">
            <a:avLst/>
          </a:prstGeom>
          <a:noFill/>
        </p:spPr>
        <p:txBody>
          <a:bodyPr vert="horz" rtlCol="0">
            <a:spAutoFit/>
          </a:bodyPr>
          <a:lstStyle/>
          <a:p>
            <a:r>
              <a:rPr lang="en-IN" sz="1050" b="1">
                <a:solidFill>
                  <a:srgbClr val="A855F7"/>
                </a:solidFill>
                <a:latin typeface="Segoe UI" panose="020B0502040204020203" pitchFamily="34" charset="0"/>
              </a:rPr>
              <a:t>TIER 3: CORE ENGINES &amp; OS SUBSYSTEMS (VERIFIED PYTHON CODEBASE)</a:t>
            </a:r>
          </a:p>
        </p:txBody>
      </p:sp>
      <p:sp>
        <p:nvSpPr>
          <p:cNvPr id="32" name="Rectangle: Rounded Corners 31">
            <a:extLst>
              <a:ext uri="{FF2B5EF4-FFF2-40B4-BE49-F238E27FC236}">
                <a16:creationId xmlns:a16="http://schemas.microsoft.com/office/drawing/2014/main" id="{8D792855-8BE3-B541-72DF-BAB42C55E45A}"/>
              </a:ext>
            </a:extLst>
          </p:cNvPr>
          <p:cNvSpPr/>
          <p:nvPr/>
        </p:nvSpPr>
        <p:spPr>
          <a:xfrm>
            <a:off x="698500" y="4483100"/>
            <a:ext cx="1968500" cy="1651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60F0F8A0-809C-BC71-9768-744EDA391A4C}"/>
              </a:ext>
            </a:extLst>
          </p:cNvPr>
          <p:cNvSpPr txBox="1"/>
          <p:nvPr/>
        </p:nvSpPr>
        <p:spPr>
          <a:xfrm>
            <a:off x="787400" y="4546600"/>
            <a:ext cx="1790700" cy="577081"/>
          </a:xfrm>
          <a:prstGeom prst="rect">
            <a:avLst/>
          </a:prstGeom>
          <a:noFill/>
        </p:spPr>
        <p:txBody>
          <a:bodyPr vert="horz" wrap="square" lIns="0" tIns="0" rIns="0" bIns="0" rtlCol="0">
            <a:spAutoFit/>
          </a:bodyPr>
          <a:lstStyle/>
          <a:p>
            <a:r>
              <a:rPr lang="en-IN" sz="850" b="1">
                <a:solidFill>
                  <a:srgbClr val="22D3EE"/>
                </a:solidFill>
                <a:latin typeface="Segoe UI" panose="020B0502040204020203" pitchFamily="34" charset="0"/>
              </a:rPr>
              <a:t>System Monitor Subsystem
</a:t>
            </a:r>
            <a:r>
              <a:rPr lang="en-IN" sz="700" b="1">
                <a:solidFill>
                  <a:srgbClr val="22D3EE"/>
                </a:solidFill>
                <a:latin typeface="Consolas" panose="020B0609020204030204" pitchFamily="49" charset="0"/>
              </a:rPr>
              <a:t>monitor/system_monitor.py
</a:t>
            </a:r>
            <a:r>
              <a:rPr lang="en-IN" sz="750" b="1">
                <a:solidFill>
                  <a:srgbClr val="94A3B8"/>
                </a:solidFill>
                <a:latin typeface="Segoe UI" panose="020B0502040204020203" pitchFamily="34" charset="0"/>
              </a:rPr>
              <a:t>Extracts CPU per-core, RAM RSS/VMS, and disk metrics via psutil.</a:t>
            </a:r>
          </a:p>
        </p:txBody>
      </p:sp>
      <p:sp>
        <p:nvSpPr>
          <p:cNvPr id="34" name="Rectangle: Rounded Corners 33">
            <a:extLst>
              <a:ext uri="{FF2B5EF4-FFF2-40B4-BE49-F238E27FC236}">
                <a16:creationId xmlns:a16="http://schemas.microsoft.com/office/drawing/2014/main" id="{DE329729-1646-8879-C007-08ADE6AD3A6B}"/>
              </a:ext>
            </a:extLst>
          </p:cNvPr>
          <p:cNvSpPr/>
          <p:nvPr/>
        </p:nvSpPr>
        <p:spPr>
          <a:xfrm>
            <a:off x="2857500" y="4483100"/>
            <a:ext cx="1968500" cy="1651000"/>
          </a:xfrm>
          <a:prstGeom prst="roundRect">
            <a:avLst/>
          </a:prstGeom>
          <a:solidFill>
            <a:srgbClr val="172438"/>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855C031B-150F-EF5E-C0DF-3B6C3179DFE9}"/>
              </a:ext>
            </a:extLst>
          </p:cNvPr>
          <p:cNvSpPr txBox="1"/>
          <p:nvPr/>
        </p:nvSpPr>
        <p:spPr>
          <a:xfrm>
            <a:off x="2946400" y="4546600"/>
            <a:ext cx="1790700" cy="692497"/>
          </a:xfrm>
          <a:prstGeom prst="rect">
            <a:avLst/>
          </a:prstGeom>
          <a:noFill/>
        </p:spPr>
        <p:txBody>
          <a:bodyPr vert="horz" wrap="square" lIns="0" tIns="0" rIns="0" bIns="0" rtlCol="0">
            <a:spAutoFit/>
          </a:bodyPr>
          <a:lstStyle/>
          <a:p>
            <a:r>
              <a:rPr lang="en-IN" sz="850" b="1">
                <a:solidFill>
                  <a:srgbClr val="22C55E"/>
                </a:solidFill>
                <a:latin typeface="Segoe UI" panose="020B0502040204020203" pitchFamily="34" charset="0"/>
              </a:rPr>
              <a:t>Autonomic Supervisor Engine
</a:t>
            </a:r>
            <a:r>
              <a:rPr lang="en-IN" sz="700" b="1">
                <a:solidFill>
                  <a:srgbClr val="22D3EE"/>
                </a:solidFill>
                <a:latin typeface="Consolas" panose="020B0609020204030204" pitchFamily="49" charset="0"/>
              </a:rPr>
              <a:t>recovery/auto_restart.py
</a:t>
            </a:r>
            <a:r>
              <a:rPr lang="en-US" sz="750" b="1">
                <a:solidFill>
                  <a:srgbClr val="94A3B8"/>
                </a:solidFill>
                <a:latin typeface="Segoe UI" panose="020B0502040204020203" pitchFamily="34" charset="0"/>
              </a:rPr>
              <a:t>Supervises apps/dummy_app.py, executes 6-state recovery lifecycle (&lt; 2s).</a:t>
            </a:r>
            <a:endParaRPr lang="en-IN" sz="750" b="1">
              <a:solidFill>
                <a:srgbClr val="94A3B8"/>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7396B334-7D4F-04C3-CCCE-987B3E40E617}"/>
              </a:ext>
            </a:extLst>
          </p:cNvPr>
          <p:cNvSpPr/>
          <p:nvPr/>
        </p:nvSpPr>
        <p:spPr>
          <a:xfrm>
            <a:off x="5016500" y="4483100"/>
            <a:ext cx="1968500" cy="1651000"/>
          </a:xfrm>
          <a:prstGeom prst="roundRect">
            <a:avLst/>
          </a:prstGeom>
          <a:solidFill>
            <a:srgbClr val="172438"/>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084F5DE3-1280-E1F1-C941-DDE8BD8F570F}"/>
              </a:ext>
            </a:extLst>
          </p:cNvPr>
          <p:cNvSpPr txBox="1"/>
          <p:nvPr/>
        </p:nvSpPr>
        <p:spPr>
          <a:xfrm>
            <a:off x="5105400" y="4546600"/>
            <a:ext cx="1790700" cy="577081"/>
          </a:xfrm>
          <a:prstGeom prst="rect">
            <a:avLst/>
          </a:prstGeom>
          <a:noFill/>
        </p:spPr>
        <p:txBody>
          <a:bodyPr vert="horz" wrap="square" lIns="0" tIns="0" rIns="0" bIns="0" rtlCol="0">
            <a:spAutoFit/>
          </a:bodyPr>
          <a:lstStyle/>
          <a:p>
            <a:r>
              <a:rPr lang="en-IN" sz="850" b="1">
                <a:solidFill>
                  <a:srgbClr val="F59E0B"/>
                </a:solidFill>
                <a:latin typeface="Segoe UI" panose="020B0502040204020203" pitchFamily="34" charset="0"/>
              </a:rPr>
              <a:t>CPU Scheduling Engine
</a:t>
            </a:r>
            <a:r>
              <a:rPr lang="en-IN" sz="700" b="1">
                <a:solidFill>
                  <a:srgbClr val="22D3EE"/>
                </a:solidFill>
                <a:latin typeface="Consolas" panose="020B0609020204030204" pitchFamily="49" charset="0"/>
              </a:rPr>
              <a:t>dashboard/cpu_scheduler.py
</a:t>
            </a:r>
            <a:r>
              <a:rPr lang="en-IN" sz="750" b="1">
                <a:solidFill>
                  <a:srgbClr val="94A3B8"/>
                </a:solidFill>
                <a:latin typeface="Segoe UI" panose="020B0502040204020203" pitchFamily="34" charset="0"/>
              </a:rPr>
              <a:t>Executes FCFS, SJF, RR (q=2), and Priority queues; computes metrics.</a:t>
            </a:r>
          </a:p>
        </p:txBody>
      </p:sp>
      <p:sp>
        <p:nvSpPr>
          <p:cNvPr id="38" name="Rectangle: Rounded Corners 37">
            <a:extLst>
              <a:ext uri="{FF2B5EF4-FFF2-40B4-BE49-F238E27FC236}">
                <a16:creationId xmlns:a16="http://schemas.microsoft.com/office/drawing/2014/main" id="{EC3623C0-301E-8792-8BAF-7053014FE78A}"/>
              </a:ext>
            </a:extLst>
          </p:cNvPr>
          <p:cNvSpPr/>
          <p:nvPr/>
        </p:nvSpPr>
        <p:spPr>
          <a:xfrm>
            <a:off x="7175500" y="4483100"/>
            <a:ext cx="1968500" cy="1651000"/>
          </a:xfrm>
          <a:prstGeom prst="roundRect">
            <a:avLst/>
          </a:prstGeom>
          <a:solidFill>
            <a:srgbClr val="172438"/>
          </a:solidFill>
          <a:ln w="1270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09FAA079-9A64-95EB-7AF2-88478A61EC29}"/>
              </a:ext>
            </a:extLst>
          </p:cNvPr>
          <p:cNvSpPr txBox="1"/>
          <p:nvPr/>
        </p:nvSpPr>
        <p:spPr>
          <a:xfrm>
            <a:off x="7264400" y="4546600"/>
            <a:ext cx="1790700" cy="577081"/>
          </a:xfrm>
          <a:prstGeom prst="rect">
            <a:avLst/>
          </a:prstGeom>
          <a:noFill/>
        </p:spPr>
        <p:txBody>
          <a:bodyPr vert="horz" wrap="square" lIns="0" tIns="0" rIns="0" bIns="0" rtlCol="0">
            <a:spAutoFit/>
          </a:bodyPr>
          <a:lstStyle/>
          <a:p>
            <a:r>
              <a:rPr lang="en-IN" sz="850" b="1">
                <a:solidFill>
                  <a:srgbClr val="EF4444"/>
                </a:solidFill>
                <a:latin typeface="Segoe UI" panose="020B0502040204020203" pitchFamily="34" charset="0"/>
              </a:rPr>
              <a:t>Deadlock &amp; Preemption Lab
</a:t>
            </a:r>
            <a:r>
              <a:rPr lang="en-IN" sz="700" b="1">
                <a:solidFill>
                  <a:srgbClr val="22D3EE"/>
                </a:solidFill>
                <a:latin typeface="Consolas" panose="020B0609020204030204" pitchFamily="49" charset="0"/>
              </a:rPr>
              <a:t>dashboard/deadlock_lab.py
</a:t>
            </a:r>
            <a:r>
              <a:rPr lang="en-IN" sz="750" b="1">
                <a:solidFill>
                  <a:srgbClr val="94A3B8"/>
                </a:solidFill>
                <a:latin typeface="Segoe UI" panose="020B0502040204020203" pitchFamily="34" charset="0"/>
              </a:rPr>
              <a:t>Tarjan/DFS WFG Cycle Detector, Banker's Algorithm, Victim Preemption.</a:t>
            </a:r>
          </a:p>
        </p:txBody>
      </p:sp>
      <p:sp>
        <p:nvSpPr>
          <p:cNvPr id="40" name="Rectangle: Rounded Corners 39">
            <a:extLst>
              <a:ext uri="{FF2B5EF4-FFF2-40B4-BE49-F238E27FC236}">
                <a16:creationId xmlns:a16="http://schemas.microsoft.com/office/drawing/2014/main" id="{9D6A1BF8-2E15-8C7B-BD49-D21E8C5C1542}"/>
              </a:ext>
            </a:extLst>
          </p:cNvPr>
          <p:cNvSpPr/>
          <p:nvPr/>
        </p:nvSpPr>
        <p:spPr>
          <a:xfrm>
            <a:off x="9334500" y="4483100"/>
            <a:ext cx="1968500" cy="1651000"/>
          </a:xfrm>
          <a:prstGeom prst="roundRect">
            <a:avLst/>
          </a:prstGeom>
          <a:solidFill>
            <a:srgbClr val="172438"/>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D45184B8-8A10-F1BD-4726-28AB8BBB2976}"/>
              </a:ext>
            </a:extLst>
          </p:cNvPr>
          <p:cNvSpPr txBox="1"/>
          <p:nvPr/>
        </p:nvSpPr>
        <p:spPr>
          <a:xfrm>
            <a:off x="9423400" y="4546600"/>
            <a:ext cx="1790700" cy="692497"/>
          </a:xfrm>
          <a:prstGeom prst="rect">
            <a:avLst/>
          </a:prstGeom>
          <a:noFill/>
        </p:spPr>
        <p:txBody>
          <a:bodyPr vert="horz" wrap="square" lIns="0" tIns="0" rIns="0" bIns="0" rtlCol="0">
            <a:spAutoFit/>
          </a:bodyPr>
          <a:lstStyle/>
          <a:p>
            <a:r>
              <a:rPr lang="en-IN" sz="850" b="1">
                <a:solidFill>
                  <a:srgbClr val="A855F7"/>
                </a:solidFill>
                <a:latin typeface="Segoe UI" panose="020B0502040204020203" pitchFamily="34" charset="0"/>
              </a:rPr>
              <a:t>PID Telemetry Engine
</a:t>
            </a:r>
            <a:r>
              <a:rPr lang="en-IN" sz="700" b="1">
                <a:solidFill>
                  <a:srgbClr val="22D3EE"/>
                </a:solidFill>
                <a:latin typeface="Consolas" panose="020B0609020204030204" pitchFamily="49" charset="0"/>
              </a:rPr>
              <a:t>dashboard/pid_comparison.py
</a:t>
            </a:r>
            <a:r>
              <a:rPr lang="en-US" sz="750" b="1">
                <a:solidFill>
                  <a:srgbClr val="94A3B8"/>
                </a:solidFill>
                <a:latin typeface="Segoe UI" panose="020B0502040204020203" pitchFamily="34" charset="0"/>
              </a:rPr>
              <a:t>Tracks 10 runtime parameters comparing Old PID vs New PID across restarts.</a:t>
            </a:r>
            <a:endParaRPr lang="en-IN" sz="750" b="1">
              <a:solidFill>
                <a:srgbClr val="94A3B8"/>
              </a:solidFill>
              <a:latin typeface="Segoe UI" panose="020B0502040204020203" pitchFamily="34" charset="0"/>
            </a:endParaRPr>
          </a:p>
        </p:txBody>
      </p:sp>
    </p:spTree>
    <p:extLst>
      <p:ext uri="{BB962C8B-B14F-4D97-AF65-F5344CB8AC3E}">
        <p14:creationId xmlns:p14="http://schemas.microsoft.com/office/powerpoint/2010/main" val="1610852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5C23F7A-AA87-9991-F3D8-282AEDFF2878}"/>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08 | TECHNICAL STACK</a:t>
            </a:r>
          </a:p>
        </p:txBody>
      </p:sp>
      <p:sp>
        <p:nvSpPr>
          <p:cNvPr id="3" name="TextBox 2">
            <a:extLst>
              <a:ext uri="{FF2B5EF4-FFF2-40B4-BE49-F238E27FC236}">
                <a16:creationId xmlns:a16="http://schemas.microsoft.com/office/drawing/2014/main" id="{421AA105-3E19-481C-30AB-D69F7A9EA1B4}"/>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Verified Technologies, Frameworks &amp; Standards
</a:t>
            </a:r>
            <a:r>
              <a:rPr lang="en-US" sz="1000">
                <a:solidFill>
                  <a:srgbClr val="94A3B8"/>
                </a:solidFill>
                <a:latin typeface="Segoe UI" panose="020B0502040204020203" pitchFamily="34" charset="0"/>
              </a:rPr>
              <a:t>Lightweight, cross-platform technology stack verified against project source code.</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7ED42761-18ED-82AC-F6A3-9BD56235609E}"/>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ED2A3E8-F167-0BCB-F09E-E7364FE85817}"/>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0FE9BCD-0AB1-9500-0542-EE4EE906CCEE}"/>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50B74338-9BCC-35F3-950D-D16D2880A8F8}"/>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8 of 13</a:t>
            </a:r>
          </a:p>
        </p:txBody>
      </p:sp>
      <p:sp>
        <p:nvSpPr>
          <p:cNvPr id="8" name="Rectangle: Rounded Corners 7">
            <a:extLst>
              <a:ext uri="{FF2B5EF4-FFF2-40B4-BE49-F238E27FC236}">
                <a16:creationId xmlns:a16="http://schemas.microsoft.com/office/drawing/2014/main" id="{9F520309-549E-1069-A1C4-ACE5D413B04D}"/>
              </a:ext>
            </a:extLst>
          </p:cNvPr>
          <p:cNvSpPr/>
          <p:nvPr/>
        </p:nvSpPr>
        <p:spPr>
          <a:xfrm>
            <a:off x="508000" y="952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9AFB04E-00EE-4AC2-711B-79886CD38FB5}"/>
              </a:ext>
            </a:extLst>
          </p:cNvPr>
          <p:cNvSpPr txBox="1"/>
          <p:nvPr/>
        </p:nvSpPr>
        <p:spPr>
          <a:xfrm>
            <a:off x="698500" y="1104900"/>
            <a:ext cx="5143500" cy="1109535"/>
          </a:xfrm>
          <a:prstGeom prst="rect">
            <a:avLst/>
          </a:prstGeom>
          <a:noFill/>
        </p:spPr>
        <p:txBody>
          <a:bodyPr vert="horz" wrap="square" lIns="0" tIns="0" rIns="0" bIns="0" rtlCol="0">
            <a:spAutoFit/>
          </a:bodyPr>
          <a:lstStyle/>
          <a:p>
            <a:r>
              <a:rPr lang="en-IN" sz="1050" b="1">
                <a:solidFill>
                  <a:srgbClr val="22D3EE"/>
                </a:solidFill>
                <a:latin typeface="Segoe UI" panose="020B0502040204020203" pitchFamily="34" charset="0"/>
              </a:rPr>
              <a:t>CORE RUNTIME &amp; LANGUAGE
</a:t>
            </a:r>
            <a:r>
              <a:rPr lang="en-IN" sz="880" b="1">
                <a:solidFill>
                  <a:srgbClr val="F1F5F9"/>
                </a:solidFill>
                <a:latin typeface="Segoe UI" panose="020B0502040204020203" pitchFamily="34" charset="0"/>
              </a:rPr>
              <a:t>
• Language: Python 3.11 / Python 3.12 (Standard CPython)
• Standard Library: http.server (ThreadingHTTPServer), threading, subprocess, json, signal, math, os, sys, time
• Concurrency Model: Multi-threaded non-blocking HTTP dispatcher + background health polling worker (1 Hz)
• Zero Heavy Frameworks: No Node.js, Flask, Django, FastAPI, or Docker required</a:t>
            </a:r>
          </a:p>
        </p:txBody>
      </p:sp>
      <p:sp>
        <p:nvSpPr>
          <p:cNvPr id="10" name="Rectangle: Rounded Corners 9">
            <a:extLst>
              <a:ext uri="{FF2B5EF4-FFF2-40B4-BE49-F238E27FC236}">
                <a16:creationId xmlns:a16="http://schemas.microsoft.com/office/drawing/2014/main" id="{DB6E6D7B-26B6-8721-B9A2-AA1C780E6BA7}"/>
              </a:ext>
            </a:extLst>
          </p:cNvPr>
          <p:cNvSpPr/>
          <p:nvPr/>
        </p:nvSpPr>
        <p:spPr>
          <a:xfrm>
            <a:off x="6159500" y="952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9CE6B3F-EA3B-BA94-D9D0-72BC5CEFF7F5}"/>
              </a:ext>
            </a:extLst>
          </p:cNvPr>
          <p:cNvSpPr txBox="1"/>
          <p:nvPr/>
        </p:nvSpPr>
        <p:spPr>
          <a:xfrm>
            <a:off x="6350000" y="1104900"/>
            <a:ext cx="5143500" cy="1109535"/>
          </a:xfrm>
          <a:prstGeom prst="rect">
            <a:avLst/>
          </a:prstGeom>
          <a:noFill/>
        </p:spPr>
        <p:txBody>
          <a:bodyPr vert="horz" wrap="square" lIns="0" tIns="0" rIns="0" bIns="0" rtlCol="0">
            <a:spAutoFit/>
          </a:bodyPr>
          <a:lstStyle/>
          <a:p>
            <a:r>
              <a:rPr lang="en-IN" sz="1050" b="1">
                <a:solidFill>
                  <a:srgbClr val="22C55E"/>
                </a:solidFill>
                <a:latin typeface="Segoe UI" panose="020B0502040204020203" pitchFamily="34" charset="0"/>
              </a:rPr>
              <a:t>SYSTEM INSTRUMENTATION &amp; SIGNALS
</a:t>
            </a:r>
            <a:r>
              <a:rPr lang="en-IN" sz="880" b="1">
                <a:solidFill>
                  <a:srgbClr val="F1F5F9"/>
                </a:solidFill>
                <a:latin typeface="Segoe UI" panose="020B0502040204020203" pitchFamily="34" charset="0"/>
              </a:rPr>
              <a:t>
• Hardware Telemetry: psutil (v7.2.2) — cross-platform system and process metrics
• Process Tracking: Real-time PID, PPID, CPU affinity, RSS/VMS memory, thread count, and lifetime
• Signal Management: Native OS signal handling (SIGTERM, SIGKILL, SIGINT) across process boundaries
• Crash Injection: Controlled process termination triggering automated supervisor lifecycle</a:t>
            </a:r>
          </a:p>
        </p:txBody>
      </p:sp>
      <p:sp>
        <p:nvSpPr>
          <p:cNvPr id="12" name="Rectangle: Rounded Corners 11">
            <a:extLst>
              <a:ext uri="{FF2B5EF4-FFF2-40B4-BE49-F238E27FC236}">
                <a16:creationId xmlns:a16="http://schemas.microsoft.com/office/drawing/2014/main" id="{399907D3-7D18-4825-E478-872F18875834}"/>
              </a:ext>
            </a:extLst>
          </p:cNvPr>
          <p:cNvSpPr/>
          <p:nvPr/>
        </p:nvSpPr>
        <p:spPr>
          <a:xfrm>
            <a:off x="508000" y="3619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B93BD3D-DB2F-4390-6379-A6184C6173AF}"/>
              </a:ext>
            </a:extLst>
          </p:cNvPr>
          <p:cNvSpPr txBox="1"/>
          <p:nvPr/>
        </p:nvSpPr>
        <p:spPr>
          <a:xfrm>
            <a:off x="698500" y="3771900"/>
            <a:ext cx="5143500" cy="1109535"/>
          </a:xfrm>
          <a:prstGeom prst="rect">
            <a:avLst/>
          </a:prstGeom>
          <a:noFill/>
        </p:spPr>
        <p:txBody>
          <a:bodyPr vert="horz" wrap="square" lIns="0" tIns="0" rIns="0" bIns="0" rtlCol="0">
            <a:spAutoFit/>
          </a:bodyPr>
          <a:lstStyle/>
          <a:p>
            <a:r>
              <a:rPr lang="en-IN" sz="1050" b="1">
                <a:solidFill>
                  <a:srgbClr val="F59E0B"/>
                </a:solidFill>
                <a:latin typeface="Segoe UI" panose="020B0502040204020203" pitchFamily="34" charset="0"/>
              </a:rPr>
              <a:t>FRONTEND &amp; MULTISENSORY UX
</a:t>
            </a:r>
            <a:r>
              <a:rPr lang="en-IN" sz="880" b="1">
                <a:solidFill>
                  <a:srgbClr val="F1F5F9"/>
                </a:solidFill>
                <a:latin typeface="Segoe UI" panose="020B0502040204020203" pitchFamily="34" charset="0"/>
              </a:rPr>
              <a:t>
• Design System: Custom Dark Theme CSS (--bg-base: #0B1220, --border: #26364D)
• Vector Visuals: Native HTML5 Canvas sparklines &amp; responsive SVG DOM elements (zero Chart.js/D3)
• Acoustic Synthesizer: Web Audio API custom additive synthesis oscillator generating 9 discrete event tones
• Vanilla JavaScript: Modern ES6+ modular client script with zero third-party UI dependencies</a:t>
            </a:r>
          </a:p>
        </p:txBody>
      </p:sp>
      <p:sp>
        <p:nvSpPr>
          <p:cNvPr id="14" name="Rectangle: Rounded Corners 13">
            <a:extLst>
              <a:ext uri="{FF2B5EF4-FFF2-40B4-BE49-F238E27FC236}">
                <a16:creationId xmlns:a16="http://schemas.microsoft.com/office/drawing/2014/main" id="{61FB3BC7-377B-C1C5-FDAD-228A2A9AE52C}"/>
              </a:ext>
            </a:extLst>
          </p:cNvPr>
          <p:cNvSpPr/>
          <p:nvPr/>
        </p:nvSpPr>
        <p:spPr>
          <a:xfrm>
            <a:off x="6159500" y="3619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EBDCC946-F957-0EFA-D8F8-0C9A03AD9C00}"/>
              </a:ext>
            </a:extLst>
          </p:cNvPr>
          <p:cNvSpPr txBox="1"/>
          <p:nvPr/>
        </p:nvSpPr>
        <p:spPr>
          <a:xfrm>
            <a:off x="6350000" y="3771900"/>
            <a:ext cx="5143500" cy="974113"/>
          </a:xfrm>
          <a:prstGeom prst="rect">
            <a:avLst/>
          </a:prstGeom>
          <a:noFill/>
        </p:spPr>
        <p:txBody>
          <a:bodyPr vert="horz" wrap="square" lIns="0" tIns="0" rIns="0" bIns="0" rtlCol="0">
            <a:spAutoFit/>
          </a:bodyPr>
          <a:lstStyle/>
          <a:p>
            <a:r>
              <a:rPr lang="en-IN" sz="1050" b="1">
                <a:solidFill>
                  <a:srgbClr val="A855F7"/>
                </a:solidFill>
                <a:latin typeface="Segoe UI" panose="020B0502040204020203" pitchFamily="34" charset="0"/>
              </a:rPr>
              <a:t>TESTING &amp; QUALITY ASSURANCE
</a:t>
            </a:r>
            <a:r>
              <a:rPr lang="en-IN" sz="880" b="1">
                <a:solidFill>
                  <a:srgbClr val="F1F5F9"/>
                </a:solidFill>
                <a:latin typeface="Segoe UI" panose="020B0502040204020203" pitchFamily="34" charset="0"/>
              </a:rPr>
              <a:t>
• Test Framework: pytest (v9.1.1) running unit, integration, and smoke test suites
• Verification Suite: 114 / 114 tests passing with 100% pass rate in sub-10 seconds
• Verified Scenarios: Scheduler math validation, crash recovery lifecycle, Banker's safe state, PID comparisons
• OS Environments: Verified on Windows 11 host and Ubuntu on WSL (dual-platform verified)</a:t>
            </a:r>
          </a:p>
        </p:txBody>
      </p:sp>
    </p:spTree>
    <p:extLst>
      <p:ext uri="{BB962C8B-B14F-4D97-AF65-F5344CB8AC3E}">
        <p14:creationId xmlns:p14="http://schemas.microsoft.com/office/powerpoint/2010/main" val="2886265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3EE1EDA-8C2C-CE60-7B17-60D64E6ECB34}"/>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09 | IMPLEMENTATION &amp; WORKING</a:t>
            </a:r>
          </a:p>
        </p:txBody>
      </p:sp>
      <p:sp>
        <p:nvSpPr>
          <p:cNvPr id="3" name="TextBox 2">
            <a:extLst>
              <a:ext uri="{FF2B5EF4-FFF2-40B4-BE49-F238E27FC236}">
                <a16:creationId xmlns:a16="http://schemas.microsoft.com/office/drawing/2014/main" id="{61205A09-647E-DD94-20AB-F2A5CC866B8E}"/>
              </a:ext>
            </a:extLst>
          </p:cNvPr>
          <p:cNvSpPr txBox="1"/>
          <p:nvPr/>
        </p:nvSpPr>
        <p:spPr>
          <a:xfrm>
            <a:off x="2667000" y="127000"/>
            <a:ext cx="9017000" cy="430887"/>
          </a:xfrm>
          <a:prstGeom prst="rect">
            <a:avLst/>
          </a:prstGeom>
          <a:noFill/>
        </p:spPr>
        <p:txBody>
          <a:bodyPr vert="horz" wrap="square" lIns="0" tIns="0" rIns="0" bIns="0" rtlCol="0">
            <a:spAutoFit/>
          </a:bodyPr>
          <a:lstStyle/>
          <a:p>
            <a:r>
              <a:rPr lang="en-US" b="1">
                <a:solidFill>
                  <a:srgbClr val="F1F5F9"/>
                </a:solidFill>
                <a:latin typeface="Segoe UI" panose="020B0502040204020203" pitchFamily="34" charset="0"/>
              </a:rPr>
              <a:t>Application Workflows Across the Three Laboratories
</a:t>
            </a:r>
            <a:r>
              <a:rPr lang="en-US" sz="1000">
                <a:solidFill>
                  <a:srgbClr val="94A3B8"/>
                </a:solidFill>
                <a:latin typeface="Segoe UI" panose="020B0502040204020203" pitchFamily="34" charset="0"/>
              </a:rPr>
              <a:t>Detailed operational lifecycles for System Overview, CPU Scheduling, and Deadlock Labs.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8241422A-AA14-B59D-8495-D5AE23CFF790}"/>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C12E5CB-69CB-D62D-F8BD-E9355E7AE796}"/>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B9434F9-23C8-4436-43F2-3F8654B800F4}"/>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4262CDAD-F171-6E74-4883-9291F0173FC7}"/>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9 of 13</a:t>
            </a:r>
          </a:p>
        </p:txBody>
      </p:sp>
      <p:sp>
        <p:nvSpPr>
          <p:cNvPr id="8" name="Rectangle: Rounded Corners 7">
            <a:extLst>
              <a:ext uri="{FF2B5EF4-FFF2-40B4-BE49-F238E27FC236}">
                <a16:creationId xmlns:a16="http://schemas.microsoft.com/office/drawing/2014/main" id="{444EF0D8-A799-209C-676C-B0F99DDE5A86}"/>
              </a:ext>
            </a:extLst>
          </p:cNvPr>
          <p:cNvSpPr/>
          <p:nvPr/>
        </p:nvSpPr>
        <p:spPr>
          <a:xfrm>
            <a:off x="508000" y="952500"/>
            <a:ext cx="3429000" cy="5334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741C5EC-BB77-4DC0-109B-8F98EA4D2297}"/>
              </a:ext>
            </a:extLst>
          </p:cNvPr>
          <p:cNvSpPr txBox="1"/>
          <p:nvPr/>
        </p:nvSpPr>
        <p:spPr>
          <a:xfrm>
            <a:off x="685800" y="1117600"/>
            <a:ext cx="3073400" cy="3310137"/>
          </a:xfrm>
          <a:prstGeom prst="rect">
            <a:avLst/>
          </a:prstGeom>
          <a:noFill/>
        </p:spPr>
        <p:txBody>
          <a:bodyPr vert="horz" wrap="square" lIns="0" tIns="0" rIns="0" bIns="0" rtlCol="0">
            <a:spAutoFit/>
          </a:bodyPr>
          <a:lstStyle/>
          <a:p>
            <a:r>
              <a:rPr lang="en-US" sz="980" b="1">
                <a:solidFill>
                  <a:srgbClr val="22D3EE"/>
                </a:solidFill>
                <a:latin typeface="Segoe UI" panose="020B0502040204020203" pitchFamily="34" charset="0"/>
              </a:rPr>
              <a:t>TAB 1: SYSTEM OVERVIEW &amp; CRASH RECOVERY
</a:t>
            </a:r>
            <a:r>
              <a:rPr lang="en-US" sz="850" b="1">
                <a:solidFill>
                  <a:srgbClr val="F1F5F9"/>
                </a:solidFill>
                <a:latin typeface="Segoe UI" panose="020B0502040204020203" pitchFamily="34" charset="0"/>
              </a:rPr>
              <a:t>• 1. Host Telemetry:
  1 Hz background polling captures overall CPU %, per-core utilization, RAM %, and Disk GB.
• 2. Monitored Process:
  apps/dummy_app.py runs as a supervised child process with continuous heartbeat verification.
• 3. Controlled Crash:
  Clicking 'Simulate Crash' terminates the child process via SIGTERM / SIGKILL.
• 4. 6-State Lifecycle:
  Supervisor triggers state machine: RUNNING -&gt; CRASHED -&gt; DETECTED -&gt; RECOVERING -&gt; RESTARTED -&gt; RUNNING.
• 5. Telemetry Diff:
  Captures New PID, verifies recovery latency (&lt; 2.0s), and logs 10-field comparison table.
• 6. Memory Stress:
  Safe bounded 64 MB simulation models memory leak progression and OOM avoidance.</a:t>
            </a:r>
            <a:endParaRPr lang="en-IN" sz="850" b="1">
              <a:solidFill>
                <a:srgbClr val="F1F5F9"/>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20BC00FF-F031-1463-6A45-6A910038BEB0}"/>
              </a:ext>
            </a:extLst>
          </p:cNvPr>
          <p:cNvSpPr/>
          <p:nvPr/>
        </p:nvSpPr>
        <p:spPr>
          <a:xfrm>
            <a:off x="4381500" y="952500"/>
            <a:ext cx="3429000" cy="5334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90F68C0-B4A0-E1A7-39FF-8F94F1934DB1}"/>
              </a:ext>
            </a:extLst>
          </p:cNvPr>
          <p:cNvSpPr txBox="1"/>
          <p:nvPr/>
        </p:nvSpPr>
        <p:spPr>
          <a:xfrm>
            <a:off x="4559300" y="1117600"/>
            <a:ext cx="3073400" cy="3310137"/>
          </a:xfrm>
          <a:prstGeom prst="rect">
            <a:avLst/>
          </a:prstGeom>
          <a:noFill/>
        </p:spPr>
        <p:txBody>
          <a:bodyPr vert="horz" wrap="square" lIns="0" tIns="0" rIns="0" bIns="0" rtlCol="0">
            <a:spAutoFit/>
          </a:bodyPr>
          <a:lstStyle/>
          <a:p>
            <a:r>
              <a:rPr lang="en-US" sz="980" b="1">
                <a:solidFill>
                  <a:srgbClr val="22C55E"/>
                </a:solidFill>
                <a:latin typeface="Segoe UI" panose="020B0502040204020203" pitchFamily="34" charset="0"/>
              </a:rPr>
              <a:t>TAB 2: CPU SCHEDULING EXECUTION STUDIO
</a:t>
            </a:r>
            <a:r>
              <a:rPr lang="en-US" sz="850" b="1">
                <a:solidFill>
                  <a:srgbClr val="F1F5F9"/>
                </a:solidFill>
                <a:latin typeface="Segoe UI" panose="020B0502040204020203" pitchFamily="34" charset="0"/>
              </a:rPr>
              <a:t>• 1. Process Studio:
  Users add/edit custom processes (PID, Arrival Time, Burst Time, Priority) or select presets.
• 2. Algorithm Engine:
  Discrete-event scheduler executes FCFS, SJF, Round Robin (q=2), or Priority policies.
• 3. 3-Stage Pipeline:
  Visual lanes: Ready Queue -&gt; Active CPU Core 0 -&gt; Completed Pool.
• 4. Live Burst Countdown:
  Active job decrements remaining burst tick-by-tick: Remaining: Xt / Yt (% Done).
• 5. SVG Gantt Chart:
  Synchronized timeline cursor sweeps across execution blocks with speed controls (0.5x to 4x).
• 6. Metric Evaluation:
  Dynamically computes Turnaround Time (TAT = CT - AT) and Waiting Time (WT = TAT - BT).</a:t>
            </a:r>
            <a:endParaRPr lang="en-IN" sz="850" b="1">
              <a:solidFill>
                <a:srgbClr val="F1F5F9"/>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8F40EF7E-E3D4-6B01-EF87-4B2ABF346299}"/>
              </a:ext>
            </a:extLst>
          </p:cNvPr>
          <p:cNvSpPr/>
          <p:nvPr/>
        </p:nvSpPr>
        <p:spPr>
          <a:xfrm>
            <a:off x="8255000" y="952500"/>
            <a:ext cx="3429000" cy="5334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75B57D80-32AB-0C90-E660-0CB813D59AD6}"/>
              </a:ext>
            </a:extLst>
          </p:cNvPr>
          <p:cNvSpPr txBox="1"/>
          <p:nvPr/>
        </p:nvSpPr>
        <p:spPr>
          <a:xfrm>
            <a:off x="8432800" y="1117600"/>
            <a:ext cx="3073400" cy="3310137"/>
          </a:xfrm>
          <a:prstGeom prst="rect">
            <a:avLst/>
          </a:prstGeom>
          <a:noFill/>
        </p:spPr>
        <p:txBody>
          <a:bodyPr vert="horz" wrap="square" lIns="0" tIns="0" rIns="0" bIns="0" rtlCol="0">
            <a:spAutoFit/>
          </a:bodyPr>
          <a:lstStyle/>
          <a:p>
            <a:r>
              <a:rPr lang="en-US" sz="980" b="1">
                <a:solidFill>
                  <a:srgbClr val="A855F7"/>
                </a:solidFill>
                <a:latin typeface="Segoe UI" panose="020B0502040204020203" pitchFamily="34" charset="0"/>
              </a:rPr>
              <a:t>TAB 3: DEADLOCK &amp; RECOVERY LAB
</a:t>
            </a:r>
            <a:r>
              <a:rPr lang="en-US" sz="850" b="1">
                <a:solidFill>
                  <a:srgbClr val="F1F5F9"/>
                </a:solidFill>
                <a:latin typeface="Segoe UI" panose="020B0502040204020203" pitchFamily="34" charset="0"/>
              </a:rPr>
              <a:t>• 1. Scenario Selection:
  Choose 3-Process Circular Wait (P0-&gt;R1-&gt;P1-&gt;R2-&gt;P2-&gt;R0-&gt;P0), 2-Process Classic, or Banker's Safe.
• 2. Dynamic SVG RAG:
  Processes (circles) and Resources (squares) rendered with directed assignment/request edges.
• 3. Cycle Detection:
  DFS / Tarjan's algorithm traverses the Wait-For-Graph; when cycle forms, edges pulse red.
• 4. Acoustic Alert:
  Web Audio API synthesizes DEADLOCK_ALERT tone on circular wait formation.
• 5. Victim Preemption:
  Evaluates heuristic, terminates victim process, reclaims held resources to Available vector.
• 6. Safe Sequence:
  Banker's Algorithm computes safe execution sequence: &lt;P1, P3, P4, P0, P2&gt;.</a:t>
            </a:r>
            <a:endParaRPr lang="en-IN" sz="850" b="1">
              <a:solidFill>
                <a:srgbClr val="F1F5F9"/>
              </a:solidFill>
              <a:latin typeface="Segoe UI" panose="020B0502040204020203" pitchFamily="34" charset="0"/>
            </a:endParaRPr>
          </a:p>
        </p:txBody>
      </p:sp>
    </p:spTree>
    <p:extLst>
      <p:ext uri="{BB962C8B-B14F-4D97-AF65-F5344CB8AC3E}">
        <p14:creationId xmlns:p14="http://schemas.microsoft.com/office/powerpoint/2010/main" val="233967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28F84CD-C807-B2E8-056D-C29BD1F31F5F}"/>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10 | RESULTS &amp; DEMONSTRATION</a:t>
            </a:r>
          </a:p>
        </p:txBody>
      </p:sp>
      <p:sp>
        <p:nvSpPr>
          <p:cNvPr id="3" name="TextBox 2">
            <a:extLst>
              <a:ext uri="{FF2B5EF4-FFF2-40B4-BE49-F238E27FC236}">
                <a16:creationId xmlns:a16="http://schemas.microsoft.com/office/drawing/2014/main" id="{FE282414-F331-D75E-C14A-D0515F948482}"/>
              </a:ext>
            </a:extLst>
          </p:cNvPr>
          <p:cNvSpPr txBox="1"/>
          <p:nvPr/>
        </p:nvSpPr>
        <p:spPr>
          <a:xfrm>
            <a:off x="2667000" y="127000"/>
            <a:ext cx="9017000" cy="430887"/>
          </a:xfrm>
          <a:prstGeom prst="rect">
            <a:avLst/>
          </a:prstGeom>
          <a:noFill/>
        </p:spPr>
        <p:txBody>
          <a:bodyPr vert="horz" wrap="square" lIns="0" tIns="0" rIns="0" bIns="0" rtlCol="0">
            <a:spAutoFit/>
          </a:bodyPr>
          <a:lstStyle/>
          <a:p>
            <a:r>
              <a:rPr lang="en-US" b="1">
                <a:solidFill>
                  <a:srgbClr val="F1F5F9"/>
                </a:solidFill>
                <a:latin typeface="Segoe UI" panose="020B0502040204020203" pitchFamily="34" charset="0"/>
              </a:rPr>
              <a:t>Empirical Telemetry, Screenshots &amp; Benchmark Validation
</a:t>
            </a:r>
            <a:r>
              <a:rPr lang="en-US" sz="1000">
                <a:solidFill>
                  <a:srgbClr val="94A3B8"/>
                </a:solidFill>
                <a:latin typeface="Segoe UI" panose="020B0502040204020203" pitchFamily="34" charset="0"/>
              </a:rPr>
              <a:t>Real-world test data and live console captures verifying system performance.</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9B40819A-6418-F0B8-7287-62264747468A}"/>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D458191-5E19-1050-39A2-395E52563C7E}"/>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1462FE9-0DA2-070E-0D8C-0EFBE7C64259}"/>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37B12CE2-C473-2344-4348-2755445F48B6}"/>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10 of 13</a:t>
            </a:r>
          </a:p>
        </p:txBody>
      </p:sp>
      <p:sp>
        <p:nvSpPr>
          <p:cNvPr id="8" name="Rectangle: Rounded Corners 7">
            <a:extLst>
              <a:ext uri="{FF2B5EF4-FFF2-40B4-BE49-F238E27FC236}">
                <a16:creationId xmlns:a16="http://schemas.microsoft.com/office/drawing/2014/main" id="{B1CF7C3B-214E-554D-6B48-CAF46E43215F}"/>
              </a:ext>
            </a:extLst>
          </p:cNvPr>
          <p:cNvSpPr/>
          <p:nvPr/>
        </p:nvSpPr>
        <p:spPr>
          <a:xfrm>
            <a:off x="508000" y="952500"/>
            <a:ext cx="5461000" cy="3048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A94289C2-8553-5BFF-EBD2-FD7B55E0AB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054100"/>
            <a:ext cx="5257800" cy="2540000"/>
          </a:xfrm>
          <a:prstGeom prst="rect">
            <a:avLst/>
          </a:prstGeom>
        </p:spPr>
      </p:pic>
      <p:sp>
        <p:nvSpPr>
          <p:cNvPr id="11" name="TextBox 10">
            <a:extLst>
              <a:ext uri="{FF2B5EF4-FFF2-40B4-BE49-F238E27FC236}">
                <a16:creationId xmlns:a16="http://schemas.microsoft.com/office/drawing/2014/main" id="{71DB6C7D-D6CC-2E1A-6013-708DEBD2B8F1}"/>
              </a:ext>
            </a:extLst>
          </p:cNvPr>
          <p:cNvSpPr txBox="1"/>
          <p:nvPr/>
        </p:nvSpPr>
        <p:spPr>
          <a:xfrm>
            <a:off x="609600" y="3644900"/>
            <a:ext cx="5257800" cy="215444"/>
          </a:xfrm>
          <a:prstGeom prst="rect">
            <a:avLst/>
          </a:prstGeom>
          <a:noFill/>
        </p:spPr>
        <p:txBody>
          <a:bodyPr vert="horz" rtlCol="0">
            <a:spAutoFit/>
          </a:bodyPr>
          <a:lstStyle/>
          <a:p>
            <a:r>
              <a:rPr lang="en-US" sz="800" i="1">
                <a:solidFill>
                  <a:srgbClr val="22D3EE"/>
                </a:solidFill>
                <a:latin typeface="Segoe UI" panose="020B0502040204020203" pitchFamily="34" charset="0"/>
              </a:rPr>
              <a:t>Live Console Capture: Dark Navy Interface, Host Telemetry &amp; CPU Visualizer</a:t>
            </a:r>
            <a:endParaRPr lang="en-IN" sz="800" i="1">
              <a:solidFill>
                <a:srgbClr val="22D3EE"/>
              </a:solidFill>
              <a:latin typeface="Segoe UI" panose="020B0502040204020203" pitchFamily="34" charset="0"/>
            </a:endParaRPr>
          </a:p>
        </p:txBody>
      </p:sp>
      <p:sp>
        <p:nvSpPr>
          <p:cNvPr id="12" name="TextBox 11">
            <a:extLst>
              <a:ext uri="{FF2B5EF4-FFF2-40B4-BE49-F238E27FC236}">
                <a16:creationId xmlns:a16="http://schemas.microsoft.com/office/drawing/2014/main" id="{6C9C95EF-C7E0-B640-BA14-3D4EB869A2D6}"/>
              </a:ext>
            </a:extLst>
          </p:cNvPr>
          <p:cNvSpPr txBox="1"/>
          <p:nvPr/>
        </p:nvSpPr>
        <p:spPr>
          <a:xfrm>
            <a:off x="6223000" y="952500"/>
            <a:ext cx="5461000" cy="238527"/>
          </a:xfrm>
          <a:prstGeom prst="rect">
            <a:avLst/>
          </a:prstGeom>
          <a:noFill/>
        </p:spPr>
        <p:txBody>
          <a:bodyPr vert="horz" rtlCol="0">
            <a:spAutoFit/>
          </a:bodyPr>
          <a:lstStyle/>
          <a:p>
            <a:r>
              <a:rPr lang="en-US" sz="950" b="1">
                <a:solidFill>
                  <a:srgbClr val="22C55E"/>
                </a:solidFill>
                <a:latin typeface="Segoe UI" panose="020B0502040204020203" pitchFamily="34" charset="0"/>
              </a:rPr>
              <a:t>CPU SCHEDULING BENCHMARK RESULTS (TEST PROCESS SET)</a:t>
            </a:r>
            <a:endParaRPr lang="en-IN" sz="950" b="1">
              <a:solidFill>
                <a:srgbClr val="22C55E"/>
              </a:solidFill>
              <a:latin typeface="Segoe UI" panose="020B0502040204020203" pitchFamily="34" charset="0"/>
            </a:endParaRPr>
          </a:p>
        </p:txBody>
      </p:sp>
      <p:graphicFrame>
        <p:nvGraphicFramePr>
          <p:cNvPr id="13" name="Table 12">
            <a:extLst>
              <a:ext uri="{FF2B5EF4-FFF2-40B4-BE49-F238E27FC236}">
                <a16:creationId xmlns:a16="http://schemas.microsoft.com/office/drawing/2014/main" id="{D8338530-E8BB-9223-8773-393156C7C906}"/>
              </a:ext>
            </a:extLst>
          </p:cNvPr>
          <p:cNvGraphicFramePr>
            <a:graphicFrameLocks noGrp="1"/>
          </p:cNvGraphicFramePr>
          <p:nvPr>
            <p:extLst>
              <p:ext uri="{D42A27DB-BD31-4B8C-83A1-F6EECF244321}">
                <p14:modId xmlns:p14="http://schemas.microsoft.com/office/powerpoint/2010/main" val="1538440349"/>
              </p:ext>
            </p:extLst>
          </p:nvPr>
        </p:nvGraphicFramePr>
        <p:xfrm>
          <a:off x="6223000" y="1231900"/>
          <a:ext cx="5461000" cy="14605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2504551503"/>
                    </a:ext>
                  </a:extLst>
                </a:gridCol>
                <a:gridCol w="1143000">
                  <a:extLst>
                    <a:ext uri="{9D8B030D-6E8A-4147-A177-3AD203B41FA5}">
                      <a16:colId xmlns:a16="http://schemas.microsoft.com/office/drawing/2014/main" val="1609765142"/>
                    </a:ext>
                  </a:extLst>
                </a:gridCol>
                <a:gridCol w="1143000">
                  <a:extLst>
                    <a:ext uri="{9D8B030D-6E8A-4147-A177-3AD203B41FA5}">
                      <a16:colId xmlns:a16="http://schemas.microsoft.com/office/drawing/2014/main" val="2811425872"/>
                    </a:ext>
                  </a:extLst>
                </a:gridCol>
                <a:gridCol w="1397000">
                  <a:extLst>
                    <a:ext uri="{9D8B030D-6E8A-4147-A177-3AD203B41FA5}">
                      <a16:colId xmlns:a16="http://schemas.microsoft.com/office/drawing/2014/main" val="1329955724"/>
                    </a:ext>
                  </a:extLst>
                </a:gridCol>
              </a:tblGrid>
              <a:tr h="292100">
                <a:tc>
                  <a:txBody>
                    <a:bodyPr/>
                    <a:lstStyle/>
                    <a:p>
                      <a:r>
                        <a:rPr lang="en-IN" sz="850" b="1">
                          <a:solidFill>
                            <a:srgbClr val="22D3EE"/>
                          </a:solidFill>
                          <a:latin typeface="Segoe UI" panose="020B0502040204020203" pitchFamily="34" charset="0"/>
                        </a:rPr>
                        <a:t>Algorithm Policy</a:t>
                      </a:r>
                    </a:p>
                  </a:txBody>
                  <a:tcPr marL="25400" marR="25400" marT="25400" marB="25400">
                    <a:solidFill>
                      <a:srgbClr val="172438"/>
                    </a:solidFill>
                  </a:tcPr>
                </a:tc>
                <a:tc>
                  <a:txBody>
                    <a:bodyPr/>
                    <a:lstStyle/>
                    <a:p>
                      <a:r>
                        <a:rPr lang="en-IN" sz="850" b="1">
                          <a:solidFill>
                            <a:srgbClr val="22D3EE"/>
                          </a:solidFill>
                          <a:latin typeface="Segoe UI" panose="020B0502040204020203" pitchFamily="34" charset="0"/>
                        </a:rPr>
                        <a:t>Avg TAT (t)</a:t>
                      </a:r>
                    </a:p>
                  </a:txBody>
                  <a:tcPr marL="25400" marR="25400" marT="25400" marB="25400">
                    <a:solidFill>
                      <a:srgbClr val="172438"/>
                    </a:solidFill>
                  </a:tcPr>
                </a:tc>
                <a:tc>
                  <a:txBody>
                    <a:bodyPr/>
                    <a:lstStyle/>
                    <a:p>
                      <a:r>
                        <a:rPr lang="en-IN" sz="850" b="1">
                          <a:solidFill>
                            <a:srgbClr val="22D3EE"/>
                          </a:solidFill>
                          <a:latin typeface="Segoe UI" panose="020B0502040204020203" pitchFamily="34" charset="0"/>
                        </a:rPr>
                        <a:t>Avg WT (t)</a:t>
                      </a:r>
                    </a:p>
                  </a:txBody>
                  <a:tcPr marL="25400" marR="25400" marT="25400" marB="25400">
                    <a:solidFill>
                      <a:srgbClr val="172438"/>
                    </a:solidFill>
                  </a:tcPr>
                </a:tc>
                <a:tc>
                  <a:txBody>
                    <a:bodyPr/>
                    <a:lstStyle/>
                    <a:p>
                      <a:r>
                        <a:rPr lang="en-IN" sz="850" b="1">
                          <a:solidFill>
                            <a:srgbClr val="22D3EE"/>
                          </a:solidFill>
                          <a:latin typeface="Segoe UI" panose="020B0502040204020203" pitchFamily="34" charset="0"/>
                        </a:rPr>
                        <a:t>Preemption / Notes</a:t>
                      </a:r>
                    </a:p>
                  </a:txBody>
                  <a:tcPr marL="25400" marR="25400" marT="25400" marB="25400">
                    <a:solidFill>
                      <a:srgbClr val="172438"/>
                    </a:solidFill>
                  </a:tcPr>
                </a:tc>
                <a:extLst>
                  <a:ext uri="{0D108BD9-81ED-4DB2-BD59-A6C34878D82A}">
                    <a16:rowId xmlns:a16="http://schemas.microsoft.com/office/drawing/2014/main" val="2376149346"/>
                  </a:ext>
                </a:extLst>
              </a:tr>
              <a:tr h="292100">
                <a:tc>
                  <a:txBody>
                    <a:bodyPr/>
                    <a:lstStyle/>
                    <a:p>
                      <a:r>
                        <a:rPr lang="en-IN" sz="800">
                          <a:solidFill>
                            <a:srgbClr val="F1F5F9"/>
                          </a:solidFill>
                          <a:latin typeface="Segoe UI" panose="020B0502040204020203" pitchFamily="34" charset="0"/>
                        </a:rPr>
                        <a:t>FCFS (First-Come First-Served)</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11.50 t</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6.25 t</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Non-preemptive</a:t>
                      </a:r>
                    </a:p>
                  </a:txBody>
                  <a:tcPr marL="25400" marR="25400" marT="25400" marB="25400">
                    <a:solidFill>
                      <a:srgbClr val="111C2E"/>
                    </a:solidFill>
                  </a:tcPr>
                </a:tc>
                <a:extLst>
                  <a:ext uri="{0D108BD9-81ED-4DB2-BD59-A6C34878D82A}">
                    <a16:rowId xmlns:a16="http://schemas.microsoft.com/office/drawing/2014/main" val="2313580196"/>
                  </a:ext>
                </a:extLst>
              </a:tr>
              <a:tr h="292100">
                <a:tc>
                  <a:txBody>
                    <a:bodyPr/>
                    <a:lstStyle/>
                    <a:p>
                      <a:r>
                        <a:rPr lang="en-IN" sz="800">
                          <a:solidFill>
                            <a:srgbClr val="F1F5F9"/>
                          </a:solidFill>
                          <a:latin typeface="Segoe UI" panose="020B0502040204020203" pitchFamily="34" charset="0"/>
                        </a:rPr>
                        <a:t>SJF (Shortest Job First)</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9.75 t</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4.50 t</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Optimal Waiting Time</a:t>
                      </a:r>
                    </a:p>
                  </a:txBody>
                  <a:tcPr marL="25400" marR="25400" marT="25400" marB="25400">
                    <a:solidFill>
                      <a:srgbClr val="1A2A40"/>
                    </a:solidFill>
                  </a:tcPr>
                </a:tc>
                <a:extLst>
                  <a:ext uri="{0D108BD9-81ED-4DB2-BD59-A6C34878D82A}">
                    <a16:rowId xmlns:a16="http://schemas.microsoft.com/office/drawing/2014/main" val="3244840842"/>
                  </a:ext>
                </a:extLst>
              </a:tr>
              <a:tr h="292100">
                <a:tc>
                  <a:txBody>
                    <a:bodyPr/>
                    <a:lstStyle/>
                    <a:p>
                      <a:r>
                        <a:rPr lang="en-IN" sz="800">
                          <a:solidFill>
                            <a:srgbClr val="F1F5F9"/>
                          </a:solidFill>
                          <a:latin typeface="Segoe UI" panose="020B0502040204020203" pitchFamily="34" charset="0"/>
                        </a:rPr>
                        <a:t>Round Robin (Quantum = 2)</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12.75 t</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7.50 t</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Preemptive Time-Shared</a:t>
                      </a:r>
                    </a:p>
                  </a:txBody>
                  <a:tcPr marL="25400" marR="25400" marT="25400" marB="25400">
                    <a:solidFill>
                      <a:srgbClr val="111C2E"/>
                    </a:solidFill>
                  </a:tcPr>
                </a:tc>
                <a:extLst>
                  <a:ext uri="{0D108BD9-81ED-4DB2-BD59-A6C34878D82A}">
                    <a16:rowId xmlns:a16="http://schemas.microsoft.com/office/drawing/2014/main" val="1603013212"/>
                  </a:ext>
                </a:extLst>
              </a:tr>
              <a:tr h="292100">
                <a:tc>
                  <a:txBody>
                    <a:bodyPr/>
                    <a:lstStyle/>
                    <a:p>
                      <a:r>
                        <a:rPr lang="en-IN" sz="800">
                          <a:solidFill>
                            <a:srgbClr val="F1F5F9"/>
                          </a:solidFill>
                          <a:latin typeface="Segoe UI" panose="020B0502040204020203" pitchFamily="34" charset="0"/>
                        </a:rPr>
                        <a:t>Priority (Non-preemptive)</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10.25 t</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5.00 t</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Priority Priority Queue</a:t>
                      </a:r>
                    </a:p>
                  </a:txBody>
                  <a:tcPr marL="25400" marR="25400" marT="25400" marB="25400">
                    <a:solidFill>
                      <a:srgbClr val="1A2A40"/>
                    </a:solidFill>
                  </a:tcPr>
                </a:tc>
                <a:extLst>
                  <a:ext uri="{0D108BD9-81ED-4DB2-BD59-A6C34878D82A}">
                    <a16:rowId xmlns:a16="http://schemas.microsoft.com/office/drawing/2014/main" val="1507214480"/>
                  </a:ext>
                </a:extLst>
              </a:tr>
            </a:tbl>
          </a:graphicData>
        </a:graphic>
      </p:graphicFrame>
      <p:sp>
        <p:nvSpPr>
          <p:cNvPr id="14" name="TextBox 13">
            <a:extLst>
              <a:ext uri="{FF2B5EF4-FFF2-40B4-BE49-F238E27FC236}">
                <a16:creationId xmlns:a16="http://schemas.microsoft.com/office/drawing/2014/main" id="{4CDCF290-9830-53D2-F405-6AE1CEB4FBF5}"/>
              </a:ext>
            </a:extLst>
          </p:cNvPr>
          <p:cNvSpPr txBox="1"/>
          <p:nvPr/>
        </p:nvSpPr>
        <p:spPr>
          <a:xfrm>
            <a:off x="508000" y="4127500"/>
            <a:ext cx="5461000" cy="238527"/>
          </a:xfrm>
          <a:prstGeom prst="rect">
            <a:avLst/>
          </a:prstGeom>
          <a:noFill/>
        </p:spPr>
        <p:txBody>
          <a:bodyPr vert="horz" rtlCol="0">
            <a:spAutoFit/>
          </a:bodyPr>
          <a:lstStyle/>
          <a:p>
            <a:r>
              <a:rPr lang="en-US" sz="950" b="1">
                <a:solidFill>
                  <a:srgbClr val="F59E0B"/>
                </a:solidFill>
                <a:latin typeface="Segoe UI" panose="020B0502040204020203" pitchFamily="34" charset="0"/>
              </a:rPr>
              <a:t>AUTONOMIC CRASH RECOVERY TELEMETRY (OLD PID VS NEW PID)</a:t>
            </a:r>
            <a:endParaRPr lang="en-IN" sz="950" b="1">
              <a:solidFill>
                <a:srgbClr val="F59E0B"/>
              </a:solidFill>
              <a:latin typeface="Segoe UI" panose="020B0502040204020203" pitchFamily="34" charset="0"/>
            </a:endParaRPr>
          </a:p>
        </p:txBody>
      </p:sp>
      <p:graphicFrame>
        <p:nvGraphicFramePr>
          <p:cNvPr id="15" name="Table 14">
            <a:extLst>
              <a:ext uri="{FF2B5EF4-FFF2-40B4-BE49-F238E27FC236}">
                <a16:creationId xmlns:a16="http://schemas.microsoft.com/office/drawing/2014/main" id="{B223D2EB-BD40-86A2-5A96-2C8F3FF24923}"/>
              </a:ext>
            </a:extLst>
          </p:cNvPr>
          <p:cNvGraphicFramePr>
            <a:graphicFrameLocks noGrp="1"/>
          </p:cNvGraphicFramePr>
          <p:nvPr>
            <p:extLst>
              <p:ext uri="{D42A27DB-BD31-4B8C-83A1-F6EECF244321}">
                <p14:modId xmlns:p14="http://schemas.microsoft.com/office/powerpoint/2010/main" val="1444803988"/>
              </p:ext>
            </p:extLst>
          </p:nvPr>
        </p:nvGraphicFramePr>
        <p:xfrm>
          <a:off x="508000" y="4406900"/>
          <a:ext cx="5461000" cy="18415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729640796"/>
                    </a:ext>
                  </a:extLst>
                </a:gridCol>
                <a:gridCol w="1778000">
                  <a:extLst>
                    <a:ext uri="{9D8B030D-6E8A-4147-A177-3AD203B41FA5}">
                      <a16:colId xmlns:a16="http://schemas.microsoft.com/office/drawing/2014/main" val="3395450435"/>
                    </a:ext>
                  </a:extLst>
                </a:gridCol>
                <a:gridCol w="1778000">
                  <a:extLst>
                    <a:ext uri="{9D8B030D-6E8A-4147-A177-3AD203B41FA5}">
                      <a16:colId xmlns:a16="http://schemas.microsoft.com/office/drawing/2014/main" val="303022062"/>
                    </a:ext>
                  </a:extLst>
                </a:gridCol>
              </a:tblGrid>
              <a:tr h="306917">
                <a:tc>
                  <a:txBody>
                    <a:bodyPr/>
                    <a:lstStyle/>
                    <a:p>
                      <a:r>
                        <a:rPr lang="en-IN" sz="850" b="1">
                          <a:solidFill>
                            <a:srgbClr val="F59E0B"/>
                          </a:solidFill>
                          <a:latin typeface="Segoe UI" panose="020B0502040204020203" pitchFamily="34" charset="0"/>
                        </a:rPr>
                        <a:t>Telemetry Field</a:t>
                      </a:r>
                    </a:p>
                  </a:txBody>
                  <a:tcPr marL="25400" marR="25400" marT="25400" marB="25400">
                    <a:solidFill>
                      <a:srgbClr val="172438"/>
                    </a:solidFill>
                  </a:tcPr>
                </a:tc>
                <a:tc>
                  <a:txBody>
                    <a:bodyPr/>
                    <a:lstStyle/>
                    <a:p>
                      <a:r>
                        <a:rPr lang="en-IN" sz="850" b="1">
                          <a:solidFill>
                            <a:srgbClr val="F59E0B"/>
                          </a:solidFill>
                          <a:latin typeface="Segoe UI" panose="020B0502040204020203" pitchFamily="34" charset="0"/>
                        </a:rPr>
                        <a:t>Pre-Crash (Old PID)</a:t>
                      </a:r>
                    </a:p>
                  </a:txBody>
                  <a:tcPr marL="25400" marR="25400" marT="25400" marB="25400">
                    <a:solidFill>
                      <a:srgbClr val="172438"/>
                    </a:solidFill>
                  </a:tcPr>
                </a:tc>
                <a:tc>
                  <a:txBody>
                    <a:bodyPr/>
                    <a:lstStyle/>
                    <a:p>
                      <a:r>
                        <a:rPr lang="en-IN" sz="850" b="1">
                          <a:solidFill>
                            <a:srgbClr val="F59E0B"/>
                          </a:solidFill>
                          <a:latin typeface="Segoe UI" panose="020B0502040204020203" pitchFamily="34" charset="0"/>
                        </a:rPr>
                        <a:t>Post-Recovery (New PID)</a:t>
                      </a:r>
                    </a:p>
                  </a:txBody>
                  <a:tcPr marL="25400" marR="25400" marT="25400" marB="25400">
                    <a:solidFill>
                      <a:srgbClr val="172438"/>
                    </a:solidFill>
                  </a:tcPr>
                </a:tc>
                <a:extLst>
                  <a:ext uri="{0D108BD9-81ED-4DB2-BD59-A6C34878D82A}">
                    <a16:rowId xmlns:a16="http://schemas.microsoft.com/office/drawing/2014/main" val="4102958813"/>
                  </a:ext>
                </a:extLst>
              </a:tr>
              <a:tr h="306917">
                <a:tc>
                  <a:txBody>
                    <a:bodyPr/>
                    <a:lstStyle/>
                    <a:p>
                      <a:r>
                        <a:rPr lang="en-IN" sz="800">
                          <a:solidFill>
                            <a:srgbClr val="F1F5F9"/>
                          </a:solidFill>
                          <a:latin typeface="Segoe UI" panose="020B0502040204020203" pitchFamily="34" charset="0"/>
                        </a:rPr>
                        <a:t>Process Identifier (PID)</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PID: 14820</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PID: 29544 (Reassigned)</a:t>
                      </a:r>
                    </a:p>
                  </a:txBody>
                  <a:tcPr marL="25400" marR="25400" marT="25400" marB="25400">
                    <a:solidFill>
                      <a:srgbClr val="111C2E"/>
                    </a:solidFill>
                  </a:tcPr>
                </a:tc>
                <a:extLst>
                  <a:ext uri="{0D108BD9-81ED-4DB2-BD59-A6C34878D82A}">
                    <a16:rowId xmlns:a16="http://schemas.microsoft.com/office/drawing/2014/main" val="4275087425"/>
                  </a:ext>
                </a:extLst>
              </a:tr>
              <a:tr h="306917">
                <a:tc>
                  <a:txBody>
                    <a:bodyPr/>
                    <a:lstStyle/>
                    <a:p>
                      <a:r>
                        <a:rPr lang="en-IN" sz="800">
                          <a:solidFill>
                            <a:srgbClr val="F1F5F9"/>
                          </a:solidFill>
                          <a:latin typeface="Segoe UI" panose="020B0502040204020203" pitchFamily="34" charset="0"/>
                        </a:rPr>
                        <a:t>Process Status</a:t>
                      </a:r>
                    </a:p>
                  </a:txBody>
                  <a:tcPr marL="25400" marR="25400" marT="25400" marB="25400">
                    <a:solidFill>
                      <a:srgbClr val="1A2A40"/>
                    </a:solidFill>
                  </a:tcPr>
                </a:tc>
                <a:tc>
                  <a:txBody>
                    <a:bodyPr/>
                    <a:lstStyle/>
                    <a:p>
                      <a:r>
                        <a:rPr lang="en-IN" sz="800">
                          <a:solidFill>
                            <a:srgbClr val="EF4444"/>
                          </a:solidFill>
                          <a:latin typeface="Segoe UI" panose="020B0502040204020203" pitchFamily="34" charset="0"/>
                        </a:rPr>
                        <a:t>CRASHED / Terminated</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RUNNING (Active Heartbeat)</a:t>
                      </a:r>
                    </a:p>
                  </a:txBody>
                  <a:tcPr marL="25400" marR="25400" marT="25400" marB="25400">
                    <a:solidFill>
                      <a:srgbClr val="1A2A40"/>
                    </a:solidFill>
                  </a:tcPr>
                </a:tc>
                <a:extLst>
                  <a:ext uri="{0D108BD9-81ED-4DB2-BD59-A6C34878D82A}">
                    <a16:rowId xmlns:a16="http://schemas.microsoft.com/office/drawing/2014/main" val="3323179509"/>
                  </a:ext>
                </a:extLst>
              </a:tr>
              <a:tr h="306917">
                <a:tc>
                  <a:txBody>
                    <a:bodyPr/>
                    <a:lstStyle/>
                    <a:p>
                      <a:r>
                        <a:rPr lang="en-IN" sz="800">
                          <a:solidFill>
                            <a:srgbClr val="F1F5F9"/>
                          </a:solidFill>
                          <a:latin typeface="Segoe UI" panose="020B0502040204020203" pitchFamily="34" charset="0"/>
                        </a:rPr>
                        <a:t>Exit Signal / Code</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Exit Code: 1 (SIGTERM)</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Exit Code: 0 (Normal)</a:t>
                      </a:r>
                    </a:p>
                  </a:txBody>
                  <a:tcPr marL="25400" marR="25400" marT="25400" marB="25400">
                    <a:solidFill>
                      <a:srgbClr val="111C2E"/>
                    </a:solidFill>
                  </a:tcPr>
                </a:tc>
                <a:extLst>
                  <a:ext uri="{0D108BD9-81ED-4DB2-BD59-A6C34878D82A}">
                    <a16:rowId xmlns:a16="http://schemas.microsoft.com/office/drawing/2014/main" val="3215639811"/>
                  </a:ext>
                </a:extLst>
              </a:tr>
              <a:tr h="306917">
                <a:tc>
                  <a:txBody>
                    <a:bodyPr/>
                    <a:lstStyle/>
                    <a:p>
                      <a:r>
                        <a:rPr lang="en-IN" sz="800">
                          <a:solidFill>
                            <a:srgbClr val="F1F5F9"/>
                          </a:solidFill>
                          <a:latin typeface="Segoe UI" panose="020B0502040204020203" pitchFamily="34" charset="0"/>
                        </a:rPr>
                        <a:t>Recovery Downtime</a:t>
                      </a:r>
                    </a:p>
                  </a:txBody>
                  <a:tcPr marL="25400" marR="25400" marT="25400" marB="25400">
                    <a:solidFill>
                      <a:srgbClr val="1A2A40"/>
                    </a:solidFill>
                  </a:tcPr>
                </a:tc>
                <a:tc>
                  <a:txBody>
                    <a:bodyPr/>
                    <a:lstStyle/>
                    <a:p>
                      <a:r>
                        <a:rPr lang="en-IN" sz="800">
                          <a:solidFill>
                            <a:srgbClr val="F1F5F9"/>
                          </a:solidFill>
                          <a:latin typeface="Segoe UI" panose="020B0502040204020203" pitchFamily="34" charset="0"/>
                        </a:rPr>
                        <a:t>Crash Latency: 0.42 s</a:t>
                      </a:r>
                    </a:p>
                  </a:txBody>
                  <a:tcPr marL="25400" marR="25400" marT="25400" marB="25400">
                    <a:solidFill>
                      <a:srgbClr val="1A2A40"/>
                    </a:solidFill>
                  </a:tcPr>
                </a:tc>
                <a:tc>
                  <a:txBody>
                    <a:bodyPr/>
                    <a:lstStyle/>
                    <a:p>
                      <a:r>
                        <a:rPr lang="en-IN" sz="800" b="1">
                          <a:solidFill>
                            <a:srgbClr val="22C55E"/>
                          </a:solidFill>
                          <a:latin typeface="Segoe UI" panose="020B0502040204020203" pitchFamily="34" charset="0"/>
                        </a:rPr>
                        <a:t>Total Restart: 1.23 s (&lt; 2.0s)</a:t>
                      </a:r>
                    </a:p>
                  </a:txBody>
                  <a:tcPr marL="25400" marR="25400" marT="25400" marB="25400">
                    <a:solidFill>
                      <a:srgbClr val="1A2A40"/>
                    </a:solidFill>
                  </a:tcPr>
                </a:tc>
                <a:extLst>
                  <a:ext uri="{0D108BD9-81ED-4DB2-BD59-A6C34878D82A}">
                    <a16:rowId xmlns:a16="http://schemas.microsoft.com/office/drawing/2014/main" val="2933103571"/>
                  </a:ext>
                </a:extLst>
              </a:tr>
              <a:tr h="306917">
                <a:tc>
                  <a:txBody>
                    <a:bodyPr/>
                    <a:lstStyle/>
                    <a:p>
                      <a:r>
                        <a:rPr lang="en-IN" sz="800">
                          <a:solidFill>
                            <a:srgbClr val="F1F5F9"/>
                          </a:solidFill>
                          <a:latin typeface="Segoe UI" panose="020B0502040204020203" pitchFamily="34" charset="0"/>
                        </a:rPr>
                        <a:t>Memory RSS &amp; Threads</a:t>
                      </a:r>
                    </a:p>
                  </a:txBody>
                  <a:tcPr marL="25400" marR="25400" marT="25400" marB="25400">
                    <a:solidFill>
                      <a:srgbClr val="111C2E"/>
                    </a:solidFill>
                  </a:tcPr>
                </a:tc>
                <a:tc>
                  <a:txBody>
                    <a:bodyPr/>
                    <a:lstStyle/>
                    <a:p>
                      <a:r>
                        <a:rPr lang="en-IN" sz="800">
                          <a:solidFill>
                            <a:srgbClr val="F1F5F9"/>
                          </a:solidFill>
                          <a:latin typeface="Segoe UI" panose="020B0502040204020203" pitchFamily="34" charset="0"/>
                        </a:rPr>
                        <a:t>18.4 MB (Released)</a:t>
                      </a:r>
                    </a:p>
                  </a:txBody>
                  <a:tcPr marL="25400" marR="25400" marT="25400" marB="25400">
                    <a:solidFill>
                      <a:srgbClr val="111C2E"/>
                    </a:solidFill>
                  </a:tcPr>
                </a:tc>
                <a:tc>
                  <a:txBody>
                    <a:bodyPr/>
                    <a:lstStyle/>
                    <a:p>
                      <a:r>
                        <a:rPr lang="en-US" sz="800">
                          <a:solidFill>
                            <a:srgbClr val="F1F5F9"/>
                          </a:solidFill>
                          <a:latin typeface="Segoe UI" panose="020B0502040204020203" pitchFamily="34" charset="0"/>
                        </a:rPr>
                        <a:t>19.1 MB (2 Active Threads)</a:t>
                      </a:r>
                      <a:endParaRPr lang="en-IN" sz="800">
                        <a:solidFill>
                          <a:srgbClr val="F1F5F9"/>
                        </a:solidFill>
                        <a:latin typeface="Segoe UI" panose="020B0502040204020203" pitchFamily="34" charset="0"/>
                      </a:endParaRPr>
                    </a:p>
                  </a:txBody>
                  <a:tcPr marL="25400" marR="25400" marT="25400" marB="25400">
                    <a:solidFill>
                      <a:srgbClr val="111C2E"/>
                    </a:solidFill>
                  </a:tcPr>
                </a:tc>
                <a:extLst>
                  <a:ext uri="{0D108BD9-81ED-4DB2-BD59-A6C34878D82A}">
                    <a16:rowId xmlns:a16="http://schemas.microsoft.com/office/drawing/2014/main" val="250112897"/>
                  </a:ext>
                </a:extLst>
              </a:tr>
            </a:tbl>
          </a:graphicData>
        </a:graphic>
      </p:graphicFrame>
      <p:sp>
        <p:nvSpPr>
          <p:cNvPr id="16" name="Rectangle: Rounded Corners 15">
            <a:extLst>
              <a:ext uri="{FF2B5EF4-FFF2-40B4-BE49-F238E27FC236}">
                <a16:creationId xmlns:a16="http://schemas.microsoft.com/office/drawing/2014/main" id="{822363A7-80CB-4AF3-E458-8EB20E00F8E4}"/>
              </a:ext>
            </a:extLst>
          </p:cNvPr>
          <p:cNvSpPr/>
          <p:nvPr/>
        </p:nvSpPr>
        <p:spPr>
          <a:xfrm>
            <a:off x="6223000" y="2857500"/>
            <a:ext cx="5461000" cy="33909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190F5226-012B-4C3E-2DAF-2AE4D3152C96}"/>
              </a:ext>
            </a:extLst>
          </p:cNvPr>
          <p:cNvSpPr txBox="1"/>
          <p:nvPr/>
        </p:nvSpPr>
        <p:spPr>
          <a:xfrm>
            <a:off x="6413500" y="2984500"/>
            <a:ext cx="5080000" cy="1541961"/>
          </a:xfrm>
          <a:prstGeom prst="rect">
            <a:avLst/>
          </a:prstGeom>
          <a:noFill/>
        </p:spPr>
        <p:txBody>
          <a:bodyPr vert="horz" wrap="square" lIns="0" tIns="0" rIns="0" bIns="0" rtlCol="0">
            <a:spAutoFit/>
          </a:bodyPr>
          <a:lstStyle/>
          <a:p>
            <a:r>
              <a:rPr lang="en-IN" sz="1050" b="1">
                <a:solidFill>
                  <a:srgbClr val="A855F7"/>
                </a:solidFill>
                <a:latin typeface="Segoe UI" panose="020B0502040204020203" pitchFamily="34" charset="0"/>
              </a:rPr>
              <a:t>QUALITY ASSURANCE &amp; TEST VERIFICATION
</a:t>
            </a:r>
            <a:r>
              <a:rPr lang="en-US" sz="880" b="1">
                <a:solidFill>
                  <a:srgbClr val="F1F5F9"/>
                </a:solidFill>
                <a:latin typeface="Segoe UI" panose="020B0502040204020203" pitchFamily="34" charset="0"/>
              </a:rPr>
              <a:t>• Comprehensive Test Coverage: 114 / 114 pytest tests passed (100% success rate).
• Test Execution Latency: 8.64 seconds total run time across all unit &amp; integration suites.
• Scheduler Engine Verification: Tested exact mathematical correctness of FCFS, SJF, RR,   and Priority turnaround/waiting calculations against textbook analytical solutions.
• Deadlock Engine Verification: Tested Tarjan's cycle detection on cyclic vs acyclic graphs;   verified Banker's safety vector recalculation after victim preemption.
• Crash Recovery Verification: Verified sub-2.0s restart timeout, signal trap handling, and   10-field PID comparison matrix generation.
• Zero Memory Leak: Verified bounded 64 MB simulation safely releases RAM without host leak.</a:t>
            </a:r>
            <a:endParaRPr lang="en-IN" sz="880" b="1">
              <a:solidFill>
                <a:srgbClr val="F1F5F9"/>
              </a:solidFill>
              <a:latin typeface="Segoe UI" panose="020B0502040204020203" pitchFamily="34" charset="0"/>
            </a:endParaRPr>
          </a:p>
        </p:txBody>
      </p:sp>
    </p:spTree>
    <p:extLst>
      <p:ext uri="{BB962C8B-B14F-4D97-AF65-F5344CB8AC3E}">
        <p14:creationId xmlns:p14="http://schemas.microsoft.com/office/powerpoint/2010/main" val="387153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AB30BE-6C6A-747A-BCCC-8250D937ED74}"/>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11 | FUTURE SCOPE</a:t>
            </a:r>
          </a:p>
        </p:txBody>
      </p:sp>
      <p:sp>
        <p:nvSpPr>
          <p:cNvPr id="3" name="TextBox 2">
            <a:extLst>
              <a:ext uri="{FF2B5EF4-FFF2-40B4-BE49-F238E27FC236}">
                <a16:creationId xmlns:a16="http://schemas.microsoft.com/office/drawing/2014/main" id="{580CD032-00E4-76D0-E62E-C8F5BB83646F}"/>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Prospective Architectural Advancements
</a:t>
            </a:r>
            <a:r>
              <a:rPr lang="en-US" sz="1000">
                <a:solidFill>
                  <a:srgbClr val="94A3B8"/>
                </a:solidFill>
                <a:latin typeface="Segoe UI" panose="020B0502040204020203" pitchFamily="34" charset="0"/>
              </a:rPr>
              <a:t>Planned engineering extensions clearly distinguished from currently implemented features.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A00884B8-C0F9-F861-90F3-1ADA7C5F93F5}"/>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25EFC50-0A52-2B6A-894B-5BC40A1E66B7}"/>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41E3A43-7EE7-3332-2AEB-055207D37F38}"/>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74E9D7D5-DEE7-D4CC-6BB0-EAA70C07E472}"/>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11 of 13</a:t>
            </a:r>
          </a:p>
        </p:txBody>
      </p:sp>
      <p:sp>
        <p:nvSpPr>
          <p:cNvPr id="8" name="Rectangle: Rounded Corners 7">
            <a:extLst>
              <a:ext uri="{FF2B5EF4-FFF2-40B4-BE49-F238E27FC236}">
                <a16:creationId xmlns:a16="http://schemas.microsoft.com/office/drawing/2014/main" id="{1B118E0E-4B76-4327-FE09-A95FB61B9AB1}"/>
              </a:ext>
            </a:extLst>
          </p:cNvPr>
          <p:cNvSpPr/>
          <p:nvPr/>
        </p:nvSpPr>
        <p:spPr>
          <a:xfrm>
            <a:off x="508000" y="952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01B15E6-6424-7D15-E061-4B88588C6D36}"/>
              </a:ext>
            </a:extLst>
          </p:cNvPr>
          <p:cNvSpPr txBox="1"/>
          <p:nvPr/>
        </p:nvSpPr>
        <p:spPr>
          <a:xfrm>
            <a:off x="698500" y="1104900"/>
            <a:ext cx="5143500" cy="1331134"/>
          </a:xfrm>
          <a:prstGeom prst="rect">
            <a:avLst/>
          </a:prstGeom>
          <a:noFill/>
        </p:spPr>
        <p:txBody>
          <a:bodyPr vert="horz" wrap="square" lIns="0" tIns="0" rIns="0" bIns="0" rtlCol="0">
            <a:spAutoFit/>
          </a:bodyPr>
          <a:lstStyle/>
          <a:p>
            <a:r>
              <a:rPr lang="en-IN" sz="1000" b="1">
                <a:solidFill>
                  <a:srgbClr val="22D3EE"/>
                </a:solidFill>
                <a:latin typeface="Segoe UI" panose="020B0502040204020203" pitchFamily="34" charset="0"/>
              </a:rPr>
              <a:t>EXTENSION 1: MULTI-CORE SMP &amp; NUMA SCHEDULING
</a:t>
            </a:r>
            <a:r>
              <a:rPr lang="en-IN" sz="850" b="1" i="1">
                <a:solidFill>
                  <a:srgbClr val="94A3B8"/>
                </a:solidFill>
                <a:latin typeface="Segoe UI" panose="020B0502040204020203" pitchFamily="34" charset="0"/>
              </a:rPr>
              <a:t>Symmetric Multiprocessing &amp; Cache Locality
</a:t>
            </a:r>
            <a:r>
              <a:rPr lang="en-IN" sz="850" b="1" i="1">
                <a:solidFill>
                  <a:srgbClr val="F1F5F9"/>
                </a:solidFill>
                <a:latin typeface="Segoe UI" panose="020B0502040204020203" pitchFamily="34" charset="0"/>
              </a:rPr>
              <a:t>• Extend the single-core CPU Execution Studio to model Symmetric Multiprocessing (SMP) across 4–8 virtual cores.
• Implement Multi-Queue Multiprocessor Scheduling (MQMS) with per-core runqueues and lockless queues.
• Model work-stealing load balancing heuristics to mitigate core idle times and straggler processes.
• Simulate Non-Uniform Memory Access (NUMA) node architectures and cache-affinity scheduling penalties.</a:t>
            </a:r>
          </a:p>
        </p:txBody>
      </p:sp>
      <p:sp>
        <p:nvSpPr>
          <p:cNvPr id="10" name="Rectangle: Rounded Corners 9">
            <a:extLst>
              <a:ext uri="{FF2B5EF4-FFF2-40B4-BE49-F238E27FC236}">
                <a16:creationId xmlns:a16="http://schemas.microsoft.com/office/drawing/2014/main" id="{9150F216-9B3B-82E0-BC74-17B4D864C616}"/>
              </a:ext>
            </a:extLst>
          </p:cNvPr>
          <p:cNvSpPr/>
          <p:nvPr/>
        </p:nvSpPr>
        <p:spPr>
          <a:xfrm>
            <a:off x="6159500" y="952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A0D4B9C-AAEC-295E-F39E-C4B8A3F4EBA2}"/>
              </a:ext>
            </a:extLst>
          </p:cNvPr>
          <p:cNvSpPr txBox="1"/>
          <p:nvPr/>
        </p:nvSpPr>
        <p:spPr>
          <a:xfrm>
            <a:off x="6350000" y="1104900"/>
            <a:ext cx="5143500" cy="1331134"/>
          </a:xfrm>
          <a:prstGeom prst="rect">
            <a:avLst/>
          </a:prstGeom>
          <a:noFill/>
        </p:spPr>
        <p:txBody>
          <a:bodyPr vert="horz" wrap="square" lIns="0" tIns="0" rIns="0" bIns="0" rtlCol="0">
            <a:spAutoFit/>
          </a:bodyPr>
          <a:lstStyle/>
          <a:p>
            <a:r>
              <a:rPr lang="en-US" sz="1000" b="1">
                <a:solidFill>
                  <a:srgbClr val="22C55E"/>
                </a:solidFill>
                <a:latin typeface="Segoe UI" panose="020B0502040204020203" pitchFamily="34" charset="0"/>
              </a:rPr>
              <a:t>EXTENSION 2: VIRTUAL MEMORY &amp; PAGE REPLACEMENT
</a:t>
            </a:r>
            <a:r>
              <a:rPr lang="en-US" sz="850" b="1" i="1">
                <a:solidFill>
                  <a:srgbClr val="94A3B8"/>
                </a:solidFill>
                <a:latin typeface="Segoe UI" panose="020B0502040204020203" pitchFamily="34" charset="0"/>
              </a:rPr>
              <a:t>Hierarchical Paging &amp; TLB Simulation
</a:t>
            </a:r>
            <a:r>
              <a:rPr lang="en-US" sz="850" b="1" i="1">
                <a:solidFill>
                  <a:srgbClr val="F1F5F9"/>
                </a:solidFill>
                <a:latin typeface="Segoe UI" panose="020B0502040204020203" pitchFamily="34" charset="0"/>
              </a:rPr>
              <a:t>• Develop a dedicated Virtual Memory Lab visualizing Two-Level Page Tables and Frame Allocation matrices.
• Simulate Translation Lookaside Buffer (TLB) hit/miss lookup latencies and page fault interrupt handlers.
• Implement interactive comparative simulation of page replacement algorithms: FIFO, LRU, Optimal, and Clock.
• Demonstrate Belady's Anomaly visually by adjusting allocated frame numbers dynamically.</a:t>
            </a:r>
            <a:endParaRPr lang="en-IN" sz="850" b="1" i="1">
              <a:solidFill>
                <a:srgbClr val="F1F5F9"/>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32CA0E3A-EDB1-AE37-062C-1E96CE47CD12}"/>
              </a:ext>
            </a:extLst>
          </p:cNvPr>
          <p:cNvSpPr/>
          <p:nvPr/>
        </p:nvSpPr>
        <p:spPr>
          <a:xfrm>
            <a:off x="508000" y="3619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CBAE273-7CD0-F1A9-B672-5F4C9AD98767}"/>
              </a:ext>
            </a:extLst>
          </p:cNvPr>
          <p:cNvSpPr txBox="1"/>
          <p:nvPr/>
        </p:nvSpPr>
        <p:spPr>
          <a:xfrm>
            <a:off x="698500" y="3771900"/>
            <a:ext cx="5143500" cy="1461939"/>
          </a:xfrm>
          <a:prstGeom prst="rect">
            <a:avLst/>
          </a:prstGeom>
          <a:noFill/>
        </p:spPr>
        <p:txBody>
          <a:bodyPr vert="horz" wrap="square" lIns="0" tIns="0" rIns="0" bIns="0" rtlCol="0">
            <a:spAutoFit/>
          </a:bodyPr>
          <a:lstStyle/>
          <a:p>
            <a:r>
              <a:rPr lang="en-IN" sz="1000" b="1">
                <a:solidFill>
                  <a:srgbClr val="F59E0B"/>
                </a:solidFill>
                <a:latin typeface="Segoe UI" panose="020B0502040204020203" pitchFamily="34" charset="0"/>
              </a:rPr>
              <a:t>EXTENSION 3: DISTRIBUTED CONCURRENCY &amp; CONSENSUS
</a:t>
            </a:r>
            <a:r>
              <a:rPr lang="en-IN" sz="850" b="1" i="1">
                <a:solidFill>
                  <a:srgbClr val="94A3B8"/>
                </a:solidFill>
                <a:latin typeface="Segoe UI" panose="020B0502040204020203" pitchFamily="34" charset="0"/>
              </a:rPr>
              <a:t>Multi-Node Deadlock &amp; Leader Election
</a:t>
            </a:r>
            <a:r>
              <a:rPr lang="en-IN" sz="850" b="1" i="1">
                <a:solidFill>
                  <a:srgbClr val="F1F5F9"/>
                </a:solidFill>
                <a:latin typeface="Segoe UI" panose="020B0502040204020203" pitchFamily="34" charset="0"/>
              </a:rPr>
              <a:t>• Extend resource contention models from single-node shared memory to distributed multi-node clusters.
• Implement the Chandy-Misra-Haas edge-chasing probe algorithm for distributed deadlock detection.
• Simulate distributed consensus protocols: Raft leader election, heartbeats, log replication, and partition handling.
• Demonstrate split-brain network partition recovery and majority quorum commitments interactively.</a:t>
            </a:r>
          </a:p>
        </p:txBody>
      </p:sp>
      <p:sp>
        <p:nvSpPr>
          <p:cNvPr id="14" name="Rectangle: Rounded Corners 13">
            <a:extLst>
              <a:ext uri="{FF2B5EF4-FFF2-40B4-BE49-F238E27FC236}">
                <a16:creationId xmlns:a16="http://schemas.microsoft.com/office/drawing/2014/main" id="{13E8C08A-B0AF-D776-166D-8BD30CC5287D}"/>
              </a:ext>
            </a:extLst>
          </p:cNvPr>
          <p:cNvSpPr/>
          <p:nvPr/>
        </p:nvSpPr>
        <p:spPr>
          <a:xfrm>
            <a:off x="6159500" y="3619500"/>
            <a:ext cx="5524500" cy="2476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272996DA-7589-EEAC-BBEA-DE0ECC50413C}"/>
              </a:ext>
            </a:extLst>
          </p:cNvPr>
          <p:cNvSpPr txBox="1"/>
          <p:nvPr/>
        </p:nvSpPr>
        <p:spPr>
          <a:xfrm>
            <a:off x="6350000" y="3771900"/>
            <a:ext cx="5143500" cy="1331134"/>
          </a:xfrm>
          <a:prstGeom prst="rect">
            <a:avLst/>
          </a:prstGeom>
          <a:noFill/>
        </p:spPr>
        <p:txBody>
          <a:bodyPr vert="horz" wrap="square" lIns="0" tIns="0" rIns="0" bIns="0" rtlCol="0">
            <a:spAutoFit/>
          </a:bodyPr>
          <a:lstStyle/>
          <a:p>
            <a:r>
              <a:rPr lang="en-IN" sz="1000" b="1">
                <a:solidFill>
                  <a:srgbClr val="A855F7"/>
                </a:solidFill>
                <a:latin typeface="Segoe UI" panose="020B0502040204020203" pitchFamily="34" charset="0"/>
              </a:rPr>
              <a:t>EXTENSION 4: BARE-METAL KERNEL PROFILING VIA eBPF
</a:t>
            </a:r>
            <a:r>
              <a:rPr lang="en-IN" sz="850" b="1" i="1">
                <a:solidFill>
                  <a:srgbClr val="94A3B8"/>
                </a:solidFill>
                <a:latin typeface="Segoe UI" panose="020B0502040204020203" pitchFamily="34" charset="0"/>
              </a:rPr>
              <a:t>In-Kernel Telemetry &amp; Hardware Counters
</a:t>
            </a:r>
            <a:r>
              <a:rPr lang="en-IN" sz="850" b="1" i="1">
                <a:solidFill>
                  <a:srgbClr val="F1F5F9"/>
                </a:solidFill>
                <a:latin typeface="Segoe UI" panose="020B0502040204020203" pitchFamily="34" charset="0"/>
              </a:rPr>
              <a:t>• Integrate Linux extended Berkeley Packet Filters (eBPF) into the backend for kernel-level instrumentation.
• Capture true context switch overheads (nanoseconds), runqueue latencies, and kernel lock wait times directly.
• Interface with CPU Performance Monitoring Units (PMU) to visualize L1/L2/LLC cache misses and branch mispredictions.
• Compare simulated theoretical scheduling metrics directly against live bare-metal Linux CFS traces.</a:t>
            </a:r>
          </a:p>
        </p:txBody>
      </p:sp>
    </p:spTree>
    <p:extLst>
      <p:ext uri="{BB962C8B-B14F-4D97-AF65-F5344CB8AC3E}">
        <p14:creationId xmlns:p14="http://schemas.microsoft.com/office/powerpoint/2010/main" val="1713569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A0EF9FE-ABE4-65AD-3B9A-E4F65153D00F}"/>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12 | DATA SOURCES &amp; REFERENCES</a:t>
            </a:r>
          </a:p>
        </p:txBody>
      </p:sp>
      <p:sp>
        <p:nvSpPr>
          <p:cNvPr id="3" name="TextBox 2">
            <a:extLst>
              <a:ext uri="{FF2B5EF4-FFF2-40B4-BE49-F238E27FC236}">
                <a16:creationId xmlns:a16="http://schemas.microsoft.com/office/drawing/2014/main" id="{1364A5F5-18F6-227D-6AC3-D2C9778DF9F3}"/>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Academic Literature, Standards &amp; Technical Citations
</a:t>
            </a:r>
            <a:r>
              <a:rPr lang="en-US" sz="1000">
                <a:solidFill>
                  <a:srgbClr val="94A3B8"/>
                </a:solidFill>
                <a:latin typeface="Segoe UI" panose="020B0502040204020203" pitchFamily="34" charset="0"/>
              </a:rPr>
              <a:t>Authentic research papers, documentation, and technical standards with verifiable URLs.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A00F012C-9126-B723-9582-9152052BD4BB}"/>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F47331F-D4A6-7B1D-B582-22A5E8E771B0}"/>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C84167B-1011-6C16-9A2F-89C52C832D06}"/>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3CA15BC8-D6F2-495F-1178-8C4D6EBE7A55}"/>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12 of 13</a:t>
            </a:r>
          </a:p>
        </p:txBody>
      </p:sp>
      <p:sp>
        <p:nvSpPr>
          <p:cNvPr id="8" name="Rectangle: Rounded Corners 7">
            <a:extLst>
              <a:ext uri="{FF2B5EF4-FFF2-40B4-BE49-F238E27FC236}">
                <a16:creationId xmlns:a16="http://schemas.microsoft.com/office/drawing/2014/main" id="{11020CA6-185D-0AEB-F3FD-82054CBF4360}"/>
              </a:ext>
            </a:extLst>
          </p:cNvPr>
          <p:cNvSpPr/>
          <p:nvPr/>
        </p:nvSpPr>
        <p:spPr>
          <a:xfrm>
            <a:off x="508000" y="952500"/>
            <a:ext cx="5461000" cy="5334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AAAC473-E4FE-126F-8951-13203379A1D0}"/>
              </a:ext>
            </a:extLst>
          </p:cNvPr>
          <p:cNvSpPr txBox="1"/>
          <p:nvPr/>
        </p:nvSpPr>
        <p:spPr>
          <a:xfrm>
            <a:off x="698500" y="1117600"/>
            <a:ext cx="5080000" cy="2823850"/>
          </a:xfrm>
          <a:prstGeom prst="rect">
            <a:avLst/>
          </a:prstGeom>
          <a:noFill/>
        </p:spPr>
        <p:txBody>
          <a:bodyPr vert="horz" wrap="square" lIns="0" tIns="0" rIns="0" bIns="0" rtlCol="0">
            <a:spAutoFit/>
          </a:bodyPr>
          <a:lstStyle/>
          <a:p>
            <a:r>
              <a:rPr lang="en-IN" sz="1100" b="1">
                <a:solidFill>
                  <a:srgbClr val="22D3EE"/>
                </a:solidFill>
                <a:latin typeface="Segoe UI" panose="020B0502040204020203" pitchFamily="34" charset="0"/>
              </a:rPr>
              <a:t>SEMINAL ACADEMIC RESEARCH PAPERS
</a:t>
            </a:r>
            <a:r>
              <a:rPr lang="en-IN" sz="850" b="1">
                <a:solidFill>
                  <a:srgbClr val="F1F5F9"/>
                </a:solidFill>
                <a:latin typeface="Segoe UI" panose="020B0502040204020203" pitchFamily="34" charset="0"/>
              </a:rPr>
              <a:t>1. Dijkstra, E. W. (1965).
   Cooperating Sequential Processes.
   Technological University Eindhoven, Report EWD123.
   https://www.cs.utexas.edu/users/EWD/ewd01xx/EWD123.PDF
2. Coffman, E. G., Elphick, M. J., &amp; Shoshani, A. (1971).
   System Deadlocks.
   ACM Computing Surveys (CSUR), 3(2), 67–78.
   https://doi.org/10.1145/356586.356588
3. Silberschatz, A., Galvin, P. B., &amp; Gagne, G. (2018).
   Operating System Concepts (10th ed.).
   John Wiley &amp; Sons, Inc.
   https://www.os-book.com/
4. Tanenbaum, A. S., &amp; Bos, H. (2014).
   Modern Operating Systems (4th ed.).
   Pearson Education, Inc.
   https://www.pearson.com/</a:t>
            </a:r>
          </a:p>
        </p:txBody>
      </p:sp>
      <p:sp>
        <p:nvSpPr>
          <p:cNvPr id="10" name="Rectangle: Rounded Corners 9">
            <a:extLst>
              <a:ext uri="{FF2B5EF4-FFF2-40B4-BE49-F238E27FC236}">
                <a16:creationId xmlns:a16="http://schemas.microsoft.com/office/drawing/2014/main" id="{82071EBC-5323-D912-5518-B93CB3581D25}"/>
              </a:ext>
            </a:extLst>
          </p:cNvPr>
          <p:cNvSpPr/>
          <p:nvPr/>
        </p:nvSpPr>
        <p:spPr>
          <a:xfrm>
            <a:off x="6223000" y="952500"/>
            <a:ext cx="5461000" cy="53340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4B92EE7-75AD-1C96-DB51-88C68B1202C4}"/>
              </a:ext>
            </a:extLst>
          </p:cNvPr>
          <p:cNvSpPr txBox="1"/>
          <p:nvPr/>
        </p:nvSpPr>
        <p:spPr>
          <a:xfrm>
            <a:off x="6413500" y="1117600"/>
            <a:ext cx="5080000" cy="2693045"/>
          </a:xfrm>
          <a:prstGeom prst="rect">
            <a:avLst/>
          </a:prstGeom>
          <a:noFill/>
        </p:spPr>
        <p:txBody>
          <a:bodyPr vert="horz" wrap="square" lIns="0" tIns="0" rIns="0" bIns="0" rtlCol="0">
            <a:spAutoFit/>
          </a:bodyPr>
          <a:lstStyle/>
          <a:p>
            <a:r>
              <a:rPr lang="en-IN" sz="1100" b="1">
                <a:solidFill>
                  <a:srgbClr val="22C55E"/>
                </a:solidFill>
                <a:latin typeface="Segoe UI" panose="020B0502040204020203" pitchFamily="34" charset="0"/>
              </a:rPr>
              <a:t>STANDARDS, KERNEL SPECS &amp; SYSTEMS TOOLING
</a:t>
            </a:r>
            <a:r>
              <a:rPr lang="en-IN" sz="850" b="1">
                <a:solidFill>
                  <a:srgbClr val="F1F5F9"/>
                </a:solidFill>
                <a:latin typeface="Segoe UI" panose="020B0502040204020203" pitchFamily="34" charset="0"/>
              </a:rPr>
              <a:t>5. IEEE / The Open Group. (2018).
   POSIX.1-2017: Standard for Information Technology—Portable Operating System Interface (IEEE Std 1003.1-2017).
   https://pubs.opengroup.org/onlinepubs/9699919799/
6. Linux Kernel Organization. (2023).
   CFS Scheduler Design &amp; CPU Bandwidth Control.
   The Linux Kernel Documentation.
   https://docs.kernel.org/scheduler/sched-design-CFS.html
7. Kephart, J. O., &amp; Chess, D. M. (2003).
   The Vision of Autonomic Computing.
   IEEE Computer, 36(1), 41–50.
   https://doi.org/10.1109/MC.2003.1160055
8. Python Software Foundation. (2024).
   psutil: Cross-platform process and system utilities (v7.2.2).
   https://psutil.readthedocs.io/en/latest/</a:t>
            </a:r>
          </a:p>
        </p:txBody>
      </p:sp>
    </p:spTree>
    <p:extLst>
      <p:ext uri="{BB962C8B-B14F-4D97-AF65-F5344CB8AC3E}">
        <p14:creationId xmlns:p14="http://schemas.microsoft.com/office/powerpoint/2010/main" val="250353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2EF2EFF-0F19-C7F1-63E2-1519F3C3A078}"/>
              </a:ext>
            </a:extLst>
          </p:cNvPr>
          <p:cNvSpPr/>
          <p:nvPr/>
        </p:nvSpPr>
        <p:spPr>
          <a:xfrm>
            <a:off x="508000" y="177800"/>
            <a:ext cx="2032000" cy="254000"/>
          </a:xfrm>
          <a:prstGeom prst="roundRect">
            <a:avLst/>
          </a:prstGeom>
          <a:solidFill>
            <a:srgbClr val="172438"/>
          </a:solidFill>
          <a:ln w="12700">
            <a:solidFill>
              <a:srgbClr val="22D3EE"/>
            </a:solidFill>
          </a:ln>
        </p:spPr>
        <p:style>
          <a:lnRef idx="2">
            <a:schemeClr val="accent1">
              <a:shade val="15000"/>
            </a:schemeClr>
          </a:lnRef>
          <a:fillRef idx="1">
            <a:schemeClr val="accent1"/>
          </a:fillRef>
          <a:effectRef idx="0">
            <a:schemeClr val="accent1"/>
          </a:effectRef>
          <a:fontRef idx="minor">
            <a:schemeClr val="lt1"/>
          </a:fontRef>
        </p:style>
        <p:txBody>
          <a:bodyPr lIns="12700" tIns="12700" rIns="12700" bIns="12700" rtlCol="0" anchor="ctr"/>
          <a:lstStyle/>
          <a:p>
            <a:pPr algn="ctr"/>
            <a:r>
              <a:rPr lang="en-IN" sz="900" b="1">
                <a:solidFill>
                  <a:srgbClr val="22D3EE"/>
                </a:solidFill>
                <a:latin typeface="Segoe UI" panose="020B0502040204020203" pitchFamily="34" charset="0"/>
              </a:rPr>
              <a:t>13 | CONCLUSION</a:t>
            </a:r>
          </a:p>
        </p:txBody>
      </p:sp>
      <p:sp>
        <p:nvSpPr>
          <p:cNvPr id="3" name="TextBox 2">
            <a:extLst>
              <a:ext uri="{FF2B5EF4-FFF2-40B4-BE49-F238E27FC236}">
                <a16:creationId xmlns:a16="http://schemas.microsoft.com/office/drawing/2014/main" id="{8C9D7825-08FF-1AC8-4E3A-1C7A52935787}"/>
              </a:ext>
            </a:extLst>
          </p:cNvPr>
          <p:cNvSpPr txBox="1"/>
          <p:nvPr/>
        </p:nvSpPr>
        <p:spPr>
          <a:xfrm>
            <a:off x="2667000" y="127000"/>
            <a:ext cx="9017000" cy="430887"/>
          </a:xfrm>
          <a:prstGeom prst="rect">
            <a:avLst/>
          </a:prstGeom>
          <a:noFill/>
        </p:spPr>
        <p:txBody>
          <a:bodyPr vert="horz" wrap="square" lIns="0" tIns="0" rIns="0" bIns="0" rtlCol="0">
            <a:spAutoFit/>
          </a:bodyPr>
          <a:lstStyle/>
          <a:p>
            <a:r>
              <a:rPr lang="en-IN" b="1">
                <a:solidFill>
                  <a:srgbClr val="F1F5F9"/>
                </a:solidFill>
                <a:latin typeface="Segoe UI" panose="020B0502040204020203" pitchFamily="34" charset="0"/>
              </a:rPr>
              <a:t>Project Synthesis &amp; Engineering Summary
</a:t>
            </a:r>
            <a:r>
              <a:rPr lang="en-US" sz="1000">
                <a:solidFill>
                  <a:srgbClr val="94A3B8"/>
                </a:solidFill>
                <a:latin typeface="Segoe UI" panose="020B0502040204020203" pitchFamily="34" charset="0"/>
              </a:rPr>
              <a:t>Final summary of project achievements, pedagogical utility, and technical outcomes.</a:t>
            </a:r>
            <a:endParaRPr lang="en-IN" sz="1000">
              <a:solidFill>
                <a:srgbClr val="94A3B8"/>
              </a:solidFill>
              <a:latin typeface="Segoe UI" panose="020B0502040204020203" pitchFamily="34" charset="0"/>
            </a:endParaRPr>
          </a:p>
        </p:txBody>
      </p:sp>
      <p:sp>
        <p:nvSpPr>
          <p:cNvPr id="4" name="Rectangle 3">
            <a:extLst>
              <a:ext uri="{FF2B5EF4-FFF2-40B4-BE49-F238E27FC236}">
                <a16:creationId xmlns:a16="http://schemas.microsoft.com/office/drawing/2014/main" id="{5384F3A6-FE1F-5D38-F749-DD4108D1B8D5}"/>
              </a:ext>
            </a:extLst>
          </p:cNvPr>
          <p:cNvSpPr/>
          <p:nvPr/>
        </p:nvSpPr>
        <p:spPr>
          <a:xfrm>
            <a:off x="508000" y="787400"/>
            <a:ext cx="11176000" cy="1905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EDF074E-0545-C4DF-D260-060D84575C15}"/>
              </a:ext>
            </a:extLst>
          </p:cNvPr>
          <p:cNvSpPr/>
          <p:nvPr/>
        </p:nvSpPr>
        <p:spPr>
          <a:xfrm>
            <a:off x="508000" y="6451600"/>
            <a:ext cx="11176000" cy="12700"/>
          </a:xfrm>
          <a:prstGeom prst="rect">
            <a:avLst/>
          </a:prstGeom>
          <a:solidFill>
            <a:srgbClr val="2636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BCC238F-7479-754A-88E9-BD2AB33A12DB}"/>
              </a:ext>
            </a:extLst>
          </p:cNvPr>
          <p:cNvSpPr txBox="1"/>
          <p:nvPr/>
        </p:nvSpPr>
        <p:spPr>
          <a:xfrm>
            <a:off x="508000" y="6502400"/>
            <a:ext cx="7620000" cy="130805"/>
          </a:xfrm>
          <a:prstGeom prst="rect">
            <a:avLst/>
          </a:prstGeom>
          <a:noFill/>
        </p:spPr>
        <p:txBody>
          <a:bodyPr vert="horz" lIns="0" tIns="0" rIns="0" bIns="0" rtlCol="0">
            <a:spAutoFit/>
          </a:bodyPr>
          <a:lstStyle/>
          <a:p>
            <a:r>
              <a:rPr lang="en-US" sz="850">
                <a:solidFill>
                  <a:srgbClr val="64748B"/>
                </a:solidFill>
                <a:latin typeface="Segoe UI" panose="020B0502040204020203" pitchFamily="34" charset="0"/>
              </a:rPr>
              <a:t>HealOS: Operating Systems Execution and Simulation | Capstone Project Review</a:t>
            </a:r>
            <a:endParaRPr lang="en-IN" sz="850">
              <a:solidFill>
                <a:srgbClr val="64748B"/>
              </a:solidFill>
              <a:latin typeface="Segoe UI" panose="020B0502040204020203" pitchFamily="34" charset="0"/>
            </a:endParaRPr>
          </a:p>
        </p:txBody>
      </p:sp>
      <p:sp>
        <p:nvSpPr>
          <p:cNvPr id="7" name="TextBox 6">
            <a:extLst>
              <a:ext uri="{FF2B5EF4-FFF2-40B4-BE49-F238E27FC236}">
                <a16:creationId xmlns:a16="http://schemas.microsoft.com/office/drawing/2014/main" id="{BB4FA388-6CD9-FF9D-5583-0D9ED6C4387B}"/>
              </a:ext>
            </a:extLst>
          </p:cNvPr>
          <p:cNvSpPr txBox="1"/>
          <p:nvPr/>
        </p:nvSpPr>
        <p:spPr>
          <a:xfrm>
            <a:off x="10160000" y="6502400"/>
            <a:ext cx="1524000" cy="130805"/>
          </a:xfrm>
          <a:prstGeom prst="rect">
            <a:avLst/>
          </a:prstGeom>
          <a:noFill/>
        </p:spPr>
        <p:txBody>
          <a:bodyPr vert="horz" lIns="0" tIns="0" rIns="0" bIns="0" rtlCol="0">
            <a:spAutoFit/>
          </a:bodyPr>
          <a:lstStyle/>
          <a:p>
            <a:pPr algn="r"/>
            <a:r>
              <a:rPr lang="en-IN" sz="850" b="1">
                <a:solidFill>
                  <a:srgbClr val="94A3B8"/>
                </a:solidFill>
                <a:latin typeface="Segoe UI" panose="020B0502040204020203" pitchFamily="34" charset="0"/>
              </a:rPr>
              <a:t>Slide 13 of 13</a:t>
            </a:r>
          </a:p>
        </p:txBody>
      </p:sp>
      <p:sp>
        <p:nvSpPr>
          <p:cNvPr id="8" name="Rectangle: Rounded Corners 7">
            <a:extLst>
              <a:ext uri="{FF2B5EF4-FFF2-40B4-BE49-F238E27FC236}">
                <a16:creationId xmlns:a16="http://schemas.microsoft.com/office/drawing/2014/main" id="{8ACA0280-333A-DB0B-B142-CA9E8391E889}"/>
              </a:ext>
            </a:extLst>
          </p:cNvPr>
          <p:cNvSpPr/>
          <p:nvPr/>
        </p:nvSpPr>
        <p:spPr>
          <a:xfrm>
            <a:off x="5080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D7EF6E2-754B-1D1E-D6D7-4A8D7D9D8C7A}"/>
              </a:ext>
            </a:extLst>
          </p:cNvPr>
          <p:cNvSpPr txBox="1"/>
          <p:nvPr/>
        </p:nvSpPr>
        <p:spPr>
          <a:xfrm>
            <a:off x="685800" y="1117600"/>
            <a:ext cx="3073400" cy="1797415"/>
          </a:xfrm>
          <a:prstGeom prst="rect">
            <a:avLst/>
          </a:prstGeom>
          <a:noFill/>
        </p:spPr>
        <p:txBody>
          <a:bodyPr vert="horz" wrap="square" lIns="0" tIns="0" rIns="0" bIns="0" rtlCol="0">
            <a:spAutoFit/>
          </a:bodyPr>
          <a:lstStyle/>
          <a:p>
            <a:r>
              <a:rPr lang="en-IN" sz="1000" b="1">
                <a:solidFill>
                  <a:srgbClr val="22D3EE"/>
                </a:solidFill>
                <a:latin typeface="Segoe UI" panose="020B0502040204020203" pitchFamily="34" charset="0"/>
              </a:rPr>
              <a:t>1. ENGINEERING RIGOR &amp; ARCHITECTURE
</a:t>
            </a:r>
            <a:r>
              <a:rPr lang="en-IN" sz="880" b="1">
                <a:solidFill>
                  <a:srgbClr val="F1F5F9"/>
                </a:solidFill>
                <a:latin typeface="Segoe UI" panose="020B0502040204020203" pitchFamily="34" charset="0"/>
              </a:rPr>
              <a:t>• Constructed a robust dual-mode OS workbench integrating live host hardware telemetry with deterministic simulation engines.
• Implemented autonomic crash detection and self-healing (&lt; 1.5s recovery) with a 10-field PID telemetry diff table.
• Delivered an animated CPU Execution Studio (FCFS, SJF, RR, Priority) and interactive Deadlock Studio with Banker's Algorithm.</a:t>
            </a:r>
          </a:p>
        </p:txBody>
      </p:sp>
      <p:sp>
        <p:nvSpPr>
          <p:cNvPr id="10" name="Rectangle: Rounded Corners 9">
            <a:extLst>
              <a:ext uri="{FF2B5EF4-FFF2-40B4-BE49-F238E27FC236}">
                <a16:creationId xmlns:a16="http://schemas.microsoft.com/office/drawing/2014/main" id="{993CC5C7-55E9-D94A-60DF-E9BF53521512}"/>
              </a:ext>
            </a:extLst>
          </p:cNvPr>
          <p:cNvSpPr/>
          <p:nvPr/>
        </p:nvSpPr>
        <p:spPr>
          <a:xfrm>
            <a:off x="43815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ED93FE6-0BCE-C1B2-FDA4-712978D7CF43}"/>
              </a:ext>
            </a:extLst>
          </p:cNvPr>
          <p:cNvSpPr txBox="1"/>
          <p:nvPr/>
        </p:nvSpPr>
        <p:spPr>
          <a:xfrm>
            <a:off x="4559300" y="1117600"/>
            <a:ext cx="3073400" cy="1661993"/>
          </a:xfrm>
          <a:prstGeom prst="rect">
            <a:avLst/>
          </a:prstGeom>
          <a:noFill/>
        </p:spPr>
        <p:txBody>
          <a:bodyPr vert="horz" wrap="square" lIns="0" tIns="0" rIns="0" bIns="0" rtlCol="0">
            <a:spAutoFit/>
          </a:bodyPr>
          <a:lstStyle/>
          <a:p>
            <a:r>
              <a:rPr lang="en-IN" sz="1000" b="1">
                <a:solidFill>
                  <a:srgbClr val="22C55E"/>
                </a:solidFill>
                <a:latin typeface="Segoe UI" panose="020B0502040204020203" pitchFamily="34" charset="0"/>
              </a:rPr>
              <a:t>2. PEDAGOGICAL &amp; EDUCATIONAL IMPACT
</a:t>
            </a:r>
            <a:r>
              <a:rPr lang="en-IN" sz="880" b="1">
                <a:solidFill>
                  <a:srgbClr val="F1F5F9"/>
                </a:solidFill>
                <a:latin typeface="Segoe UI" panose="020B0502040204020203" pitchFamily="34" charset="0"/>
              </a:rPr>
              <a:t>• Demystifies abstract kernel mechanisms by providing direct visual, tabular, and auditory feedback across all process states.
• Demonstrates dynamic deadlock progression, circular wait formation, and preemption recovery in real time.
• Eliminates setup friction: zero runtime JS dependencies, lightweight Python architecture, instant cross-platform launch.</a:t>
            </a:r>
          </a:p>
        </p:txBody>
      </p:sp>
      <p:sp>
        <p:nvSpPr>
          <p:cNvPr id="12" name="Rectangle: Rounded Corners 11">
            <a:extLst>
              <a:ext uri="{FF2B5EF4-FFF2-40B4-BE49-F238E27FC236}">
                <a16:creationId xmlns:a16="http://schemas.microsoft.com/office/drawing/2014/main" id="{A89CBF26-4277-D6D4-208F-C4137650735D}"/>
              </a:ext>
            </a:extLst>
          </p:cNvPr>
          <p:cNvSpPr/>
          <p:nvPr/>
        </p:nvSpPr>
        <p:spPr>
          <a:xfrm>
            <a:off x="8255000" y="952500"/>
            <a:ext cx="3429000" cy="4254500"/>
          </a:xfrm>
          <a:prstGeom prst="roundRect">
            <a:avLst/>
          </a:prstGeom>
          <a:solidFill>
            <a:srgbClr val="111C2E"/>
          </a:solidFill>
          <a:ln w="15240">
            <a:solidFill>
              <a:srgbClr val="2636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B731E88-044E-E003-E558-F705689A1477}"/>
              </a:ext>
            </a:extLst>
          </p:cNvPr>
          <p:cNvSpPr txBox="1"/>
          <p:nvPr/>
        </p:nvSpPr>
        <p:spPr>
          <a:xfrm>
            <a:off x="8432800" y="1117600"/>
            <a:ext cx="3073400" cy="1797415"/>
          </a:xfrm>
          <a:prstGeom prst="rect">
            <a:avLst/>
          </a:prstGeom>
          <a:noFill/>
        </p:spPr>
        <p:txBody>
          <a:bodyPr vert="horz" wrap="square" lIns="0" tIns="0" rIns="0" bIns="0" rtlCol="0">
            <a:spAutoFit/>
          </a:bodyPr>
          <a:lstStyle/>
          <a:p>
            <a:r>
              <a:rPr lang="en-IN" sz="1000" b="1">
                <a:solidFill>
                  <a:srgbClr val="A855F7"/>
                </a:solidFill>
                <a:latin typeface="Segoe UI" panose="020B0502040204020203" pitchFamily="34" charset="0"/>
              </a:rPr>
              <a:t>3. VERIFICATION &amp; QUALITY STANDARDS
</a:t>
            </a:r>
            <a:r>
              <a:rPr lang="en-US" sz="880" b="1">
                <a:solidFill>
                  <a:srgbClr val="F1F5F9"/>
                </a:solidFill>
                <a:latin typeface="Segoe UI" panose="020B0502040204020203" pitchFamily="34" charset="0"/>
              </a:rPr>
              <a:t>• 114 / 114 automated pytest tests passing across Windows and Ubuntu WSL environments with 100% pass rate.
• Strict separation of concerns: modular backend dispatchers, dedicated simulation engines, and responsive SVG frontend.
• Fully documented and reproducible codebase with comprehensive teacher demo guides and presentation artifacts.</a:t>
            </a:r>
            <a:endParaRPr lang="en-IN" sz="880" b="1">
              <a:solidFill>
                <a:srgbClr val="F1F5F9"/>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0F76FD0A-3B1F-21B1-3FF1-C1A2C45F6A64}"/>
              </a:ext>
            </a:extLst>
          </p:cNvPr>
          <p:cNvSpPr/>
          <p:nvPr/>
        </p:nvSpPr>
        <p:spPr>
          <a:xfrm>
            <a:off x="508000" y="5359400"/>
            <a:ext cx="11176000" cy="914400"/>
          </a:xfrm>
          <a:prstGeom prst="roundRect">
            <a:avLst/>
          </a:prstGeom>
          <a:solidFill>
            <a:srgbClr val="172438"/>
          </a:solidFill>
          <a:ln w="15240">
            <a:solidFill>
              <a:srgbClr val="2D4A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80E59C3-1E17-9D30-E833-2125E3FB3EB7}"/>
              </a:ext>
            </a:extLst>
          </p:cNvPr>
          <p:cNvSpPr txBox="1"/>
          <p:nvPr/>
        </p:nvSpPr>
        <p:spPr>
          <a:xfrm>
            <a:off x="698500" y="5461000"/>
            <a:ext cx="10795000" cy="438582"/>
          </a:xfrm>
          <a:prstGeom prst="rect">
            <a:avLst/>
          </a:prstGeom>
          <a:noFill/>
        </p:spPr>
        <p:txBody>
          <a:bodyPr vert="horz" wrap="square" lIns="0" tIns="0" rIns="0" bIns="0" rtlCol="0">
            <a:spAutoFit/>
          </a:bodyPr>
          <a:lstStyle/>
          <a:p>
            <a:r>
              <a:rPr lang="en-IN" sz="950" b="1">
                <a:solidFill>
                  <a:srgbClr val="22D3EE"/>
                </a:solidFill>
                <a:latin typeface="Segoe UI" panose="020B0502040204020203" pitchFamily="34" charset="0"/>
              </a:rPr>
              <a:t>FINAL EVALUATION SUMMARY &amp; TAKEAWAY
</a:t>
            </a:r>
            <a:r>
              <a:rPr lang="en-US" sz="950" b="1" i="1">
                <a:solidFill>
                  <a:srgbClr val="F1F5F9"/>
                </a:solidFill>
                <a:latin typeface="Segoe UI" panose="020B0502040204020203" pitchFamily="34" charset="0"/>
              </a:rPr>
              <a:t>HealOS transforms abstract operating systems theory into an observable, self-healing, and interactive laboratory. By bridging real-time host hardware telemetry with deterministic algorithmic simulation and acoustic feedback, HealOS provides an unprecedented tool for systems education and computer science engineering.</a:t>
            </a:r>
            <a:endParaRPr lang="en-IN" sz="950" b="1" i="1">
              <a:solidFill>
                <a:srgbClr val="F1F5F9"/>
              </a:solidFill>
              <a:latin typeface="Segoe UI" panose="020B0502040204020203" pitchFamily="34" charset="0"/>
            </a:endParaRPr>
          </a:p>
        </p:txBody>
      </p:sp>
    </p:spTree>
    <p:extLst>
      <p:ext uri="{BB962C8B-B14F-4D97-AF65-F5344CB8AC3E}">
        <p14:creationId xmlns:p14="http://schemas.microsoft.com/office/powerpoint/2010/main" val="2228464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6465</Words>
  <Application>Microsoft Office PowerPoint</Application>
  <PresentationFormat>Custom</PresentationFormat>
  <Paragraphs>203</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josna Ghodake</dc:creator>
  <cp:lastModifiedBy>josna Ghodake</cp:lastModifiedBy>
  <cp:revision>1</cp:revision>
  <dcterms:created xsi:type="dcterms:W3CDTF">2026-10-24T07:44:56Z</dcterms:created>
  <dcterms:modified xsi:type="dcterms:W3CDTF">2026-10-24T07:44:56Z</dcterms:modified>
</cp:coreProperties>
</file>